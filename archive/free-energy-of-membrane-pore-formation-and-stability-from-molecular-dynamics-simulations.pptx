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6000" cy="6847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1983600"/>
            <a:ext cx="10746000" cy="2160000"/>
          </a:xfrm>
          <a:prstGeom prst="rect">
            <a:avLst/>
          </a:prstGeom>
          <a:noFill/>
        </p:spPr>
        <p:txBody>
          <a:bodyPr wrap="none" anchor="ctr">
            <a:spAutoFit/>
          </a:bodyPr>
          <a:lstStyle/>
          <a:p>
            <a:pPr algn="ctr">
              <a:defRPr sz="3000" b="1">
                <a:latin typeface="Times New Roman"/>
              </a:defRPr>
            </a:pPr>
            <a:r>
              <a:t>Free Energy of Membrane Pore Formation</a:t>
            </a:r>
            <a:br/>
            <a:r>
              <a:t>and Stability from Molecular Dynamics Simulations</a:t>
            </a:r>
          </a:p>
        </p:txBody>
      </p:sp>
      <p:sp>
        <p:nvSpPr>
          <p:cNvPr id="4" name="TextBox 3"/>
          <p:cNvSpPr txBox="1"/>
          <p:nvPr/>
        </p:nvSpPr>
        <p:spPr>
          <a:xfrm>
            <a:off x="720000" y="3963600"/>
            <a:ext cx="10746000" cy="1080000"/>
          </a:xfrm>
          <a:prstGeom prst="rect">
            <a:avLst/>
          </a:prstGeom>
          <a:noFill/>
        </p:spPr>
        <p:txBody>
          <a:bodyPr wrap="none" anchor="ctr">
            <a:spAutoFit/>
          </a:bodyPr>
          <a:lstStyle/>
          <a:p>
            <a:pPr algn="ctr"/>
            <a:r>
              <a:rPr sz="2400" b="0">
                <a:latin typeface="楷体"/>
              </a:rPr>
              <a:t>演讲人</a:t>
            </a:r>
            <a:r>
              <a:rPr sz="2400" b="0">
                <a:latin typeface="Times New Roman"/>
              </a:rPr>
              <a:t>：</a:t>
            </a:r>
            <a:r>
              <a:rPr sz="2400" b="0">
                <a:latin typeface="楷体"/>
              </a:rPr>
              <a:t>慧者</a:t>
            </a:r>
            <a:r>
              <a:rPr sz="2400" b="0">
                <a:latin typeface="Times New Roman"/>
              </a:rPr>
              <a:t>         </a:t>
            </a:r>
            <a:r>
              <a:rPr sz="2400" b="0">
                <a:latin typeface="楷体"/>
              </a:rPr>
              <a:t>时间</a:t>
            </a:r>
            <a:r>
              <a:rPr sz="2400" b="0">
                <a:latin typeface="Times New Roman"/>
              </a:rPr>
              <a:t>：2025</a:t>
            </a:r>
            <a:r>
              <a:rPr sz="2400" b="0">
                <a:latin typeface="楷体"/>
              </a:rPr>
              <a:t>年</a:t>
            </a:r>
            <a:r>
              <a:rPr sz="2400" b="0">
                <a:latin typeface="Times New Roman"/>
              </a:rPr>
              <a:t>10</a:t>
            </a:r>
            <a:r>
              <a:rPr sz="2400" b="0">
                <a:latin typeface="楷体"/>
              </a:rPr>
              <a:t>月</a:t>
            </a:r>
            <a:r>
              <a:rPr sz="2400" b="0">
                <a:latin typeface="Times New Roman"/>
              </a:rPr>
              <a:t>20</a:t>
            </a:r>
            <a:r>
              <a:rPr sz="2400" b="0">
                <a:latin typeface="楷体"/>
              </a:rPr>
              <a:t>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2703600"/>
            <a:ext cx="10746000" cy="2160000"/>
          </a:xfrm>
          <a:prstGeom prst="rect">
            <a:avLst/>
          </a:prstGeom>
          <a:noFill/>
        </p:spPr>
        <p:txBody>
          <a:bodyPr wrap="none" anchor="ctr">
            <a:spAutoFit/>
          </a:bodyPr>
          <a:lstStyle/>
          <a:p>
            <a:pPr algn="ctr">
              <a:defRPr sz="3000" b="1">
                <a:latin typeface="Times New Roman"/>
              </a:defRPr>
            </a:pPr>
            <a:r>
              <a:t>Background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720000"/>
            <a:ext cx="10746000" cy="4087365"/>
          </a:xfrm>
          <a:prstGeom prst="rect">
            <a:avLst/>
          </a:prstGeom>
          <a:noFill/>
        </p:spPr>
        <p:txBody>
          <a:bodyPr wrap="square" anchor="t" lIns="72000" rIns="72000" tIns="72000" bIns="72000">
            <a:spAutoFit/>
          </a:bodyPr>
          <a:lstStyle/>
          <a:p>
            <a:pPr algn="l"/>
            <a:r>
              <a:rPr sz="1900" b="1">
                <a:latin typeface="楷体"/>
              </a:rPr>
              <a:t>研究背景</a:t>
            </a:r>
          </a:p>
          <a:p>
            <a:pPr algn="l"/>
            <a:r>
              <a:rPr sz="1700" b="1">
                <a:latin typeface="楷体"/>
              </a:rPr>
              <a:t>传统实验手段难以捕捉膜孔形成过程的瞬态结构</a:t>
            </a:r>
            <a:r>
              <a:rPr sz="1700" b="0">
                <a:latin typeface="Times New Roman"/>
              </a:rPr>
              <a:t>，</a:t>
            </a:r>
            <a:r>
              <a:rPr sz="1700" b="0">
                <a:latin typeface="楷体"/>
              </a:rPr>
              <a:t>尽管中子散射</a:t>
            </a:r>
            <a:r>
              <a:rPr sz="1700" b="0">
                <a:latin typeface="Times New Roman"/>
              </a:rPr>
              <a:t>、</a:t>
            </a:r>
            <a:r>
              <a:rPr sz="1700" b="0">
                <a:latin typeface="楷体"/>
              </a:rPr>
              <a:t>固态</a:t>
            </a:r>
            <a:r>
              <a:rPr sz="1700" b="0">
                <a:latin typeface="Times New Roman"/>
              </a:rPr>
              <a:t>NMR、</a:t>
            </a:r>
            <a:r>
              <a:rPr sz="1700" b="0">
                <a:latin typeface="楷体"/>
              </a:rPr>
              <a:t>原子力显微镜和电导测量等方法可提供孔径与原子级特征信息</a:t>
            </a:r>
            <a:r>
              <a:rPr sz="1700" b="0">
                <a:latin typeface="Times New Roman"/>
              </a:rPr>
              <a:t>，</a:t>
            </a:r>
            <a:r>
              <a:rPr sz="1700" b="0">
                <a:latin typeface="楷体"/>
              </a:rPr>
              <a:t>甚至</a:t>
            </a:r>
            <a:r>
              <a:rPr sz="1700" b="0">
                <a:latin typeface="Times New Roman"/>
              </a:rPr>
              <a:t>X</a:t>
            </a:r>
            <a:r>
              <a:rPr sz="1700" b="0">
                <a:latin typeface="楷体"/>
              </a:rPr>
              <a:t>射线晶体学能解析完整三维结构</a:t>
            </a:r>
            <a:r>
              <a:rPr sz="1700" b="0">
                <a:latin typeface="Times New Roman"/>
              </a:rPr>
              <a:t>，</a:t>
            </a:r>
            <a:r>
              <a:rPr sz="1700" b="0">
                <a:latin typeface="楷体"/>
              </a:rPr>
              <a:t>但这些技术大多仅能获得</a:t>
            </a:r>
            <a:r>
              <a:rPr sz="1700" b="1">
                <a:latin typeface="楷体"/>
              </a:rPr>
              <a:t>静态快照</a:t>
            </a:r>
            <a:r>
              <a:rPr sz="1700" b="0">
                <a:latin typeface="Times New Roman"/>
              </a:rPr>
              <a:t>，</a:t>
            </a:r>
            <a:r>
              <a:rPr sz="1700" b="0">
                <a:latin typeface="楷体"/>
              </a:rPr>
              <a:t>无法揭示膜孔形成的动态分子机制及其稳定性演变过程</a:t>
            </a:r>
            <a:r>
              <a:rPr sz="1700" b="0">
                <a:latin typeface="Times New Roman"/>
              </a:rPr>
              <a:t>。</a:t>
            </a:r>
          </a:p>
          <a:p>
            <a:pPr algn="l"/>
            <a:r>
              <a:rPr sz="1900" b="1">
                <a:latin typeface="楷体"/>
              </a:rPr>
              <a:t>方法创新</a:t>
            </a:r>
          </a:p>
          <a:p>
            <a:pPr algn="l"/>
            <a:r>
              <a:rPr sz="1700" b="0">
                <a:latin typeface="Times New Roman"/>
              </a:rPr>
              <a:t>　　</a:t>
            </a:r>
            <a:r>
              <a:rPr sz="1700" b="0">
                <a:latin typeface="楷体"/>
              </a:rPr>
              <a:t>采用</a:t>
            </a:r>
            <a:r>
              <a:rPr sz="1700" b="1">
                <a:latin typeface="楷体"/>
              </a:rPr>
              <a:t>分子动力学模拟结合增强采样技术</a:t>
            </a:r>
            <a:r>
              <a:rPr sz="1700" b="0">
                <a:latin typeface="Times New Roman"/>
              </a:rPr>
              <a:t>，</a:t>
            </a:r>
            <a:r>
              <a:rPr sz="1700" b="0">
                <a:latin typeface="楷体"/>
              </a:rPr>
              <a:t>在全原子分辨率下追踪脂质膜孔从无到有的形成路径</a:t>
            </a:r>
            <a:r>
              <a:rPr sz="1700" b="0">
                <a:latin typeface="Times New Roman"/>
              </a:rPr>
              <a:t>，</a:t>
            </a:r>
            <a:r>
              <a:rPr sz="1700" b="0">
                <a:latin typeface="楷体"/>
              </a:rPr>
              <a:t>克服实验上难以捕获瞬态中间态的局限</a:t>
            </a:r>
            <a:r>
              <a:rPr sz="1700" b="0">
                <a:latin typeface="Times New Roman"/>
              </a:rPr>
              <a:t>。</a:t>
            </a:r>
          </a:p>
          <a:p>
            <a:pPr algn="l"/>
            <a:r>
              <a:rPr sz="1900" b="1">
                <a:latin typeface="楷体"/>
              </a:rPr>
              <a:t>聚焦问题</a:t>
            </a:r>
          </a:p>
          <a:p>
            <a:pPr algn="l"/>
            <a:r>
              <a:rPr sz="1700" b="0">
                <a:latin typeface="Times New Roman"/>
              </a:rPr>
              <a:t>　　</a:t>
            </a:r>
            <a:r>
              <a:rPr sz="1700" b="0">
                <a:latin typeface="楷体"/>
              </a:rPr>
              <a:t>聚焦于</a:t>
            </a:r>
            <a:r>
              <a:rPr sz="1700" b="1">
                <a:latin typeface="楷体"/>
              </a:rPr>
              <a:t>膜孔如何在无外力诱导下自发形成并稳定存在</a:t>
            </a:r>
            <a:r>
              <a:rPr sz="1700" b="0">
                <a:latin typeface="楷体"/>
              </a:rPr>
              <a:t>的分子机制</a:t>
            </a:r>
            <a:r>
              <a:rPr sz="1700" b="0">
                <a:latin typeface="Times New Roman"/>
              </a:rPr>
              <a:t>。</a:t>
            </a:r>
            <a:r>
              <a:rPr sz="1700" b="0">
                <a:latin typeface="楷体"/>
              </a:rPr>
              <a:t>研究揭示了孔洞生成的关键步骤</a:t>
            </a:r>
            <a:r>
              <a:rPr sz="1700" b="0">
                <a:latin typeface="Times New Roman"/>
              </a:rPr>
              <a:t>：</a:t>
            </a:r>
            <a:r>
              <a:rPr sz="1700" b="0">
                <a:latin typeface="楷体"/>
              </a:rPr>
              <a:t>局部脂质重排</a:t>
            </a:r>
            <a:r>
              <a:rPr sz="1700" b="0">
                <a:latin typeface="Times New Roman"/>
              </a:rPr>
              <a:t>→</a:t>
            </a:r>
            <a:r>
              <a:rPr sz="1700" b="0">
                <a:latin typeface="楷体"/>
              </a:rPr>
              <a:t>水分子渗透</a:t>
            </a:r>
            <a:r>
              <a:rPr sz="1700" b="0">
                <a:latin typeface="Times New Roman"/>
              </a:rPr>
              <a:t>→</a:t>
            </a:r>
            <a:r>
              <a:rPr sz="1700" b="0">
                <a:latin typeface="楷体"/>
              </a:rPr>
              <a:t>亲水通路扩展</a:t>
            </a:r>
            <a:r>
              <a:rPr sz="1700" b="0">
                <a:latin typeface="Times New Roman"/>
              </a:rPr>
              <a:t>→</a:t>
            </a:r>
            <a:r>
              <a:rPr sz="1700" b="0">
                <a:latin typeface="楷体"/>
              </a:rPr>
              <a:t>稳定孔结构</a:t>
            </a:r>
            <a:r>
              <a:rPr sz="1700" b="0">
                <a:latin typeface="Times New Roman"/>
              </a:rPr>
              <a:t>，</a:t>
            </a:r>
            <a:r>
              <a:rPr sz="1700" b="0">
                <a:latin typeface="楷体"/>
              </a:rPr>
              <a:t>并阐明了膜张力与脂质组成对孔形成能垒的调控作用</a:t>
            </a:r>
            <a:r>
              <a:rPr sz="1700" b="0">
                <a:latin typeface="Times New Roman"/>
              </a:rPr>
              <a:t>，</a:t>
            </a:r>
            <a:r>
              <a:rPr sz="1700" b="0">
                <a:latin typeface="楷体"/>
              </a:rPr>
              <a:t>为理解细胞膜通透性转变及设计新型穿膜药物递送系统提供了机制基础</a:t>
            </a:r>
            <a:r>
              <a:rPr sz="1700" b="0">
                <a:latin typeface="Times New Roman"/>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360000"/>
            <a:ext cx="10746000" cy="720000"/>
          </a:xfrm>
          <a:prstGeom prst="rect">
            <a:avLst/>
          </a:prstGeom>
          <a:noFill/>
        </p:spPr>
        <p:txBody>
          <a:bodyPr wrap="square" anchor="ctr">
            <a:spAutoFit/>
          </a:bodyPr>
          <a:lstStyle/>
          <a:p>
            <a:pPr algn="ctr"/>
            <a:r>
              <a:rPr sz="2200" b="1">
                <a:latin typeface="Times New Roman"/>
              </a:rPr>
              <a:t>Knowledge</a:t>
            </a:r>
          </a:p>
        </p:txBody>
      </p:sp>
      <p:sp>
        <p:nvSpPr>
          <p:cNvPr id="4" name="TextBox 3"/>
          <p:cNvSpPr txBox="1"/>
          <p:nvPr/>
        </p:nvSpPr>
        <p:spPr>
          <a:xfrm>
            <a:off x="720000" y="1260000"/>
            <a:ext cx="10746000" cy="3482464"/>
          </a:xfrm>
          <a:prstGeom prst="rect">
            <a:avLst/>
          </a:prstGeom>
          <a:noFill/>
        </p:spPr>
        <p:txBody>
          <a:bodyPr wrap="square" anchor="t" lIns="72000" rIns="72000" tIns="72000" bIns="72000">
            <a:spAutoFit/>
          </a:bodyPr>
          <a:lstStyle/>
          <a:p>
            <a:pPr algn="l"/>
            <a:r>
              <a:rPr sz="1900" b="1">
                <a:latin typeface="楷体"/>
              </a:rPr>
              <a:t>抗菌肽</a:t>
            </a:r>
            <a:r>
              <a:rPr sz="1900" b="1">
                <a:latin typeface="Times New Roman"/>
              </a:rPr>
              <a:t>（Antimicrobial Peptides, AMPs）</a:t>
            </a:r>
          </a:p>
          <a:p>
            <a:pPr algn="l"/>
            <a:r>
              <a:rPr sz="1700" b="0">
                <a:latin typeface="Times New Roman"/>
              </a:rPr>
              <a:t>　　</a:t>
            </a:r>
            <a:r>
              <a:rPr sz="1700" b="0">
                <a:latin typeface="楷体"/>
              </a:rPr>
              <a:t>一类能够破坏微生物细胞膜结构的小分子肽</a:t>
            </a:r>
            <a:r>
              <a:rPr sz="1700" b="0">
                <a:latin typeface="Times New Roman"/>
              </a:rPr>
              <a:t>，</a:t>
            </a:r>
            <a:r>
              <a:rPr sz="1700" b="0">
                <a:latin typeface="楷体"/>
              </a:rPr>
              <a:t>通过在脂质膜上形成孔洞导致细胞内容物泄漏</a:t>
            </a:r>
            <a:r>
              <a:rPr sz="1700" b="0">
                <a:latin typeface="Times New Roman"/>
              </a:rPr>
              <a:t>，</a:t>
            </a:r>
            <a:r>
              <a:rPr sz="1700" b="0">
                <a:latin typeface="楷体"/>
              </a:rPr>
              <a:t>从而杀死细菌或病毒等病原体</a:t>
            </a:r>
            <a:r>
              <a:rPr sz="1700" b="0">
                <a:latin typeface="Times New Roman"/>
              </a:rPr>
              <a:t>。</a:t>
            </a:r>
          </a:p>
          <a:p>
            <a:pPr algn="l"/>
            <a:r>
              <a:rPr sz="1900" b="1">
                <a:latin typeface="楷体"/>
              </a:rPr>
              <a:t>电穿孔</a:t>
            </a:r>
            <a:r>
              <a:rPr sz="1900" b="1">
                <a:latin typeface="Times New Roman"/>
              </a:rPr>
              <a:t>（Electroporation）</a:t>
            </a:r>
          </a:p>
          <a:p>
            <a:pPr algn="l"/>
            <a:r>
              <a:rPr sz="1700" b="0">
                <a:latin typeface="Times New Roman"/>
              </a:rPr>
              <a:t>　　</a:t>
            </a:r>
            <a:r>
              <a:rPr sz="1700" b="0">
                <a:latin typeface="楷体"/>
              </a:rPr>
              <a:t>利用外加电场瞬时增加细胞膜通透性</a:t>
            </a:r>
            <a:r>
              <a:rPr sz="1700" b="0">
                <a:latin typeface="Times New Roman"/>
              </a:rPr>
              <a:t>，</a:t>
            </a:r>
            <a:r>
              <a:rPr sz="1700" b="0">
                <a:latin typeface="楷体"/>
              </a:rPr>
              <a:t>使大分子如</a:t>
            </a:r>
            <a:r>
              <a:rPr sz="1700" b="0">
                <a:latin typeface="Times New Roman"/>
              </a:rPr>
              <a:t>DNA</a:t>
            </a:r>
            <a:r>
              <a:rPr sz="1700" b="0">
                <a:latin typeface="楷体"/>
              </a:rPr>
              <a:t>或药物能进入细胞的技术</a:t>
            </a:r>
            <a:r>
              <a:rPr sz="1700" b="0">
                <a:latin typeface="Times New Roman"/>
              </a:rPr>
              <a:t>，</a:t>
            </a:r>
            <a:r>
              <a:rPr sz="1700" b="0">
                <a:latin typeface="楷体"/>
              </a:rPr>
              <a:t>其原理与膜孔形成密切相关</a:t>
            </a:r>
            <a:r>
              <a:rPr sz="1700" b="0">
                <a:latin typeface="Times New Roman"/>
              </a:rPr>
              <a:t>。</a:t>
            </a:r>
          </a:p>
          <a:p>
            <a:pPr algn="l"/>
            <a:r>
              <a:rPr sz="1900" b="1">
                <a:latin typeface="楷体"/>
              </a:rPr>
              <a:t>固态核磁共振</a:t>
            </a:r>
            <a:r>
              <a:rPr sz="1900" b="1">
                <a:latin typeface="Times New Roman"/>
              </a:rPr>
              <a:t>（Solid-state NMR）</a:t>
            </a:r>
          </a:p>
          <a:p>
            <a:pPr algn="l"/>
            <a:r>
              <a:rPr sz="1700" b="0">
                <a:latin typeface="Times New Roman"/>
              </a:rPr>
              <a:t>　　</a:t>
            </a:r>
            <a:r>
              <a:rPr sz="1700" b="0">
                <a:latin typeface="楷体"/>
              </a:rPr>
              <a:t>一种用于研究固体材料</a:t>
            </a:r>
            <a:r>
              <a:rPr sz="1700" b="0">
                <a:latin typeface="Times New Roman"/>
              </a:rPr>
              <a:t>（</a:t>
            </a:r>
            <a:r>
              <a:rPr sz="1700" b="0">
                <a:latin typeface="楷体"/>
              </a:rPr>
              <a:t>包括膜蛋白和脂质双层</a:t>
            </a:r>
            <a:r>
              <a:rPr sz="1700" b="0">
                <a:latin typeface="Times New Roman"/>
              </a:rPr>
              <a:t>）</a:t>
            </a:r>
            <a:r>
              <a:rPr sz="1700" b="0">
                <a:latin typeface="楷体"/>
              </a:rPr>
              <a:t>原子级结构的谱学技术</a:t>
            </a:r>
            <a:r>
              <a:rPr sz="1700" b="0">
                <a:latin typeface="Times New Roman"/>
              </a:rPr>
              <a:t>，</a:t>
            </a:r>
            <a:r>
              <a:rPr sz="1700" b="0">
                <a:latin typeface="楷体"/>
              </a:rPr>
              <a:t>特别适用于不溶于水或难以结晶的生物体系</a:t>
            </a:r>
            <a:r>
              <a:rPr sz="1700" b="0">
                <a:latin typeface="Times New Roman"/>
              </a:rP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2703600"/>
            <a:ext cx="10746000" cy="2160000"/>
          </a:xfrm>
          <a:prstGeom prst="rect">
            <a:avLst/>
          </a:prstGeom>
          <a:noFill/>
        </p:spPr>
        <p:txBody>
          <a:bodyPr wrap="none" anchor="ctr">
            <a:spAutoFit/>
          </a:bodyPr>
          <a:lstStyle/>
          <a:p>
            <a:pPr algn="ctr">
              <a:defRPr sz="3000" b="1">
                <a:latin typeface="Times New Roman"/>
              </a:defRPr>
            </a:pPr>
            <a:r>
              <a:t>Method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720000"/>
            <a:ext cx="10746000" cy="5400000"/>
          </a:xfrm>
          <a:prstGeom prst="rect">
            <a:avLst/>
          </a:prstGeom>
          <a:noFill/>
        </p:spPr>
        <p:txBody>
          <a:bodyPr wrap="square" anchor="t" lIns="72000" rIns="72000" tIns="72000" bIns="72000">
            <a:spAutoFit/>
          </a:bodyPr>
          <a:lstStyle/>
          <a:p>
            <a:pPr algn="l"/>
            <a:r>
              <a:rPr sz="1900" b="1">
                <a:latin typeface="Times New Roman"/>
              </a:rPr>
              <a:t>Full-Path Method: Pore Formation and Expansion</a:t>
            </a:r>
          </a:p>
          <a:p>
            <a:pPr algn="l"/>
            <a:r>
              <a:rPr sz="1700" b="0">
                <a:latin typeface="Times New Roman"/>
              </a:rPr>
              <a:t>　　</a:t>
            </a:r>
            <a:r>
              <a:rPr sz="1700" b="0">
                <a:latin typeface="楷体"/>
              </a:rPr>
              <a:t>提出一种基于脂质尾部重原子分布的联合集体变量</a:t>
            </a:r>
            <a:r>
              <a:rPr sz="1700" b="0">
                <a:latin typeface="Times New Roman"/>
              </a:rPr>
              <a:t>（CV），</a:t>
            </a:r>
            <a:r>
              <a:rPr sz="1700" b="0">
                <a:latin typeface="楷体"/>
              </a:rPr>
              <a:t>由膜缺陷</a:t>
            </a:r>
            <a:r>
              <a:rPr sz="1700" b="0">
                <a:latin typeface="Times New Roman"/>
              </a:rPr>
              <a:t>（$\mathrm{CV_{cyl}}$）</a:t>
            </a:r>
            <a:r>
              <a:rPr sz="1700" b="0">
                <a:latin typeface="楷体"/>
              </a:rPr>
              <a:t>和孔扩展</a:t>
            </a:r>
            <a:r>
              <a:rPr sz="1700" b="0">
                <a:latin typeface="Times New Roman"/>
              </a:rPr>
              <a:t>（$\mathrm{CV_{radius}}$）</a:t>
            </a:r>
            <a:r>
              <a:rPr sz="1700" b="0">
                <a:latin typeface="楷体"/>
              </a:rPr>
              <a:t>两部分构成</a:t>
            </a:r>
            <a:r>
              <a:rPr sz="1700" b="0">
                <a:latin typeface="Times New Roman"/>
              </a:rPr>
              <a:t>，</a:t>
            </a:r>
            <a:r>
              <a:rPr sz="1700" b="0">
                <a:latin typeface="楷体"/>
              </a:rPr>
              <a:t>通过</a:t>
            </a:r>
            <a:r>
              <a:rPr sz="1700" b="0">
                <a:latin typeface="Times New Roman"/>
              </a:rPr>
              <a:t>PLUMED</a:t>
            </a:r>
            <a:r>
              <a:rPr sz="1700" b="0">
                <a:latin typeface="楷体"/>
              </a:rPr>
              <a:t>实现</a:t>
            </a:r>
            <a:r>
              <a:rPr sz="1700" b="0">
                <a:latin typeface="Times New Roman"/>
              </a:rPr>
              <a:t>。</a:t>
            </a:r>
            <a:r>
              <a:rPr sz="1700" b="0">
                <a:latin typeface="楷体"/>
              </a:rPr>
              <a:t>该</a:t>
            </a:r>
            <a:r>
              <a:rPr sz="1700" b="0">
                <a:latin typeface="Times New Roman"/>
              </a:rPr>
              <a:t>CV</a:t>
            </a:r>
            <a:r>
              <a:rPr sz="1700" b="0">
                <a:latin typeface="楷体"/>
              </a:rPr>
              <a:t>采用加权和形式</a:t>
            </a:r>
            <a:r>
              <a:rPr sz="1700" b="0">
                <a:latin typeface="Times New Roman"/>
              </a:rPr>
              <a:t>，</a:t>
            </a:r>
            <a:r>
              <a:rPr sz="1700" b="0">
                <a:latin typeface="楷体"/>
              </a:rPr>
              <a:t>结合平滑切换函数</a:t>
            </a:r>
            <a:r>
              <a:rPr sz="1700" b="0">
                <a:latin typeface="Times New Roman"/>
              </a:rPr>
              <a:t>$s_1$</a:t>
            </a:r>
            <a:r>
              <a:rPr sz="1700" b="0">
                <a:latin typeface="楷体"/>
              </a:rPr>
              <a:t>与</a:t>
            </a:r>
            <a:r>
              <a:rPr sz="1700" b="0">
                <a:latin typeface="Times New Roman"/>
              </a:rPr>
              <a:t>$s_2$，</a:t>
            </a:r>
            <a:r>
              <a:rPr sz="1700" b="0">
                <a:latin typeface="楷体"/>
              </a:rPr>
              <a:t>在小孔阶段以</a:t>
            </a:r>
            <a:r>
              <a:rPr sz="1700" b="0">
                <a:latin typeface="Times New Roman"/>
              </a:rPr>
              <a:t>$\mathrm{CV_{cyl}}$</a:t>
            </a:r>
            <a:r>
              <a:rPr sz="1700" b="0">
                <a:latin typeface="楷体"/>
              </a:rPr>
              <a:t>为主</a:t>
            </a:r>
            <a:r>
              <a:rPr sz="1700" b="0">
                <a:latin typeface="Times New Roman"/>
              </a:rPr>
              <a:t>，</a:t>
            </a:r>
            <a:r>
              <a:rPr sz="1700" b="0">
                <a:latin typeface="楷体"/>
              </a:rPr>
              <a:t>大孔阶段过渡到</a:t>
            </a:r>
            <a:r>
              <a:rPr sz="1700" b="0">
                <a:latin typeface="Times New Roman"/>
              </a:rPr>
              <a:t>$\mathrm{CV_{radius}}$。$\mathrm{CV_{cyl}}$</a:t>
            </a:r>
            <a:r>
              <a:rPr sz="1700" b="0">
                <a:latin typeface="楷体"/>
              </a:rPr>
              <a:t>定义为圆柱体内脂质尾部重原子数归一化值</a:t>
            </a:r>
            <a:r>
              <a:rPr sz="1700" b="0">
                <a:latin typeface="Times New Roman"/>
              </a:rPr>
              <a:t>，$\mathrm{CV_{radius}}$</a:t>
            </a:r>
            <a:r>
              <a:rPr sz="1700" b="0">
                <a:latin typeface="楷体"/>
              </a:rPr>
              <a:t>为</a:t>
            </a:r>
            <a:r>
              <a:rPr sz="1700" b="0">
                <a:latin typeface="Times New Roman"/>
              </a:rPr>
              <a:t>XY</a:t>
            </a:r>
            <a:r>
              <a:rPr sz="1700" b="0">
                <a:latin typeface="楷体"/>
              </a:rPr>
              <a:t>平面内距孔中心最近脂质尾部重原子的最小距离并归一化</a:t>
            </a:r>
            <a:r>
              <a:rPr sz="1700" b="0">
                <a:latin typeface="Times New Roman"/>
              </a:rPr>
              <a:t>。</a:t>
            </a:r>
          </a:p>
          <a:p>
            <a:pPr algn="l"/>
            <a:r>
              <a:rPr sz="1900" b="1">
                <a:latin typeface="Times New Roman"/>
              </a:rPr>
              <a:t>Free Energy Simulations</a:t>
            </a:r>
          </a:p>
          <a:p>
            <a:pPr algn="l"/>
            <a:r>
              <a:rPr sz="1700" b="0">
                <a:latin typeface="Times New Roman"/>
              </a:rPr>
              <a:t>　　</a:t>
            </a:r>
            <a:r>
              <a:rPr sz="1700" b="0">
                <a:latin typeface="楷体"/>
              </a:rPr>
              <a:t>使用</a:t>
            </a:r>
            <a:r>
              <a:rPr sz="1700" b="0">
                <a:latin typeface="Times New Roman"/>
              </a:rPr>
              <a:t>GROMACS</a:t>
            </a:r>
            <a:r>
              <a:rPr sz="1700" b="0">
                <a:latin typeface="楷体"/>
              </a:rPr>
              <a:t>与</a:t>
            </a:r>
            <a:r>
              <a:rPr sz="1700" b="0">
                <a:latin typeface="Times New Roman"/>
              </a:rPr>
              <a:t>PLUMED</a:t>
            </a:r>
            <a:r>
              <a:rPr sz="1700" b="0">
                <a:latin typeface="楷体"/>
              </a:rPr>
              <a:t>进行伞形采样</a:t>
            </a:r>
            <a:r>
              <a:rPr sz="1700" b="0">
                <a:latin typeface="Times New Roman"/>
              </a:rPr>
              <a:t>，</a:t>
            </a:r>
            <a:r>
              <a:rPr sz="1700" b="0">
                <a:latin typeface="楷体"/>
              </a:rPr>
              <a:t>力常数为</a:t>
            </a:r>
            <a:r>
              <a:rPr sz="1700" b="0">
                <a:latin typeface="Times New Roman"/>
              </a:rPr>
              <a:t>5000 kJ/mol/nm²。</a:t>
            </a:r>
            <a:r>
              <a:rPr sz="1700" b="0">
                <a:latin typeface="楷体"/>
              </a:rPr>
              <a:t>全原子模拟窗口间隔</a:t>
            </a:r>
            <a:r>
              <a:rPr sz="1700" b="0">
                <a:latin typeface="Times New Roman"/>
              </a:rPr>
              <a:t>0.035 CV</a:t>
            </a:r>
            <a:r>
              <a:rPr sz="1700" b="0">
                <a:latin typeface="楷体"/>
              </a:rPr>
              <a:t>单位</a:t>
            </a:r>
            <a:r>
              <a:rPr sz="1700" b="0">
                <a:latin typeface="Times New Roman"/>
              </a:rPr>
              <a:t>，</a:t>
            </a:r>
            <a:r>
              <a:rPr sz="1700" b="0">
                <a:latin typeface="楷体"/>
              </a:rPr>
              <a:t>范围</a:t>
            </a:r>
            <a:r>
              <a:rPr sz="1700" b="0">
                <a:latin typeface="Times New Roman"/>
              </a:rPr>
              <a:t>−0.100</a:t>
            </a:r>
            <a:r>
              <a:rPr sz="1700" b="0">
                <a:latin typeface="楷体"/>
              </a:rPr>
              <a:t>至</a:t>
            </a:r>
            <a:r>
              <a:rPr sz="1700" b="0">
                <a:latin typeface="Times New Roman"/>
              </a:rPr>
              <a:t>2.175，</a:t>
            </a:r>
            <a:r>
              <a:rPr sz="1700" b="0">
                <a:latin typeface="楷体"/>
              </a:rPr>
              <a:t>每个窗口生产运行</a:t>
            </a:r>
            <a:r>
              <a:rPr sz="1700" b="0">
                <a:latin typeface="Times New Roman"/>
              </a:rPr>
              <a:t>200 ns，</a:t>
            </a:r>
            <a:r>
              <a:rPr sz="1700" b="0">
                <a:latin typeface="楷体"/>
              </a:rPr>
              <a:t>取最后</a:t>
            </a:r>
            <a:r>
              <a:rPr sz="1700" b="0">
                <a:latin typeface="Times New Roman"/>
              </a:rPr>
              <a:t>50 ns</a:t>
            </a:r>
            <a:r>
              <a:rPr sz="1700" b="0">
                <a:latin typeface="楷体"/>
              </a:rPr>
              <a:t>用于</a:t>
            </a:r>
            <a:r>
              <a:rPr sz="1700" b="0">
                <a:latin typeface="Times New Roman"/>
              </a:rPr>
              <a:t>WHAM</a:t>
            </a:r>
            <a:r>
              <a:rPr sz="1700" b="0">
                <a:latin typeface="楷体"/>
              </a:rPr>
              <a:t>分析</a:t>
            </a:r>
            <a:r>
              <a:rPr sz="1700" b="0">
                <a:latin typeface="Times New Roman"/>
              </a:rPr>
              <a:t>；</a:t>
            </a:r>
            <a:r>
              <a:rPr sz="1700" b="0">
                <a:latin typeface="楷体"/>
              </a:rPr>
              <a:t>粗粒化模拟类似</a:t>
            </a:r>
            <a:r>
              <a:rPr sz="1700" b="0">
                <a:latin typeface="Times New Roman"/>
              </a:rPr>
              <a:t>，</a:t>
            </a:r>
            <a:r>
              <a:rPr sz="1700" b="0">
                <a:latin typeface="楷体"/>
              </a:rPr>
              <a:t>但使用微秒级运行</a:t>
            </a:r>
            <a:r>
              <a:rPr sz="1700" b="0">
                <a:latin typeface="Times New Roman"/>
              </a:rPr>
              <a:t>。</a:t>
            </a:r>
            <a:r>
              <a:rPr sz="1700" b="0">
                <a:latin typeface="楷体"/>
              </a:rPr>
              <a:t>自由能曲线分段拟合</a:t>
            </a:r>
            <a:r>
              <a:rPr sz="1700" b="0">
                <a:latin typeface="Times New Roman"/>
              </a:rPr>
              <a:t>：CV ≤ 0.5</a:t>
            </a:r>
            <a:r>
              <a:rPr sz="1700" b="0">
                <a:latin typeface="楷体"/>
              </a:rPr>
              <a:t>时拟合二次项系数</a:t>
            </a:r>
            <a:r>
              <a:rPr sz="1700" b="0">
                <a:latin typeface="Times New Roman"/>
              </a:rPr>
              <a:t>$k$，CV ≥ 1.2</a:t>
            </a:r>
            <a:r>
              <a:rPr sz="1700" b="0">
                <a:latin typeface="楷体"/>
              </a:rPr>
              <a:t>时拟合线张力</a:t>
            </a:r>
            <a:r>
              <a:rPr sz="1700" b="0">
                <a:latin typeface="Times New Roman"/>
              </a:rPr>
              <a:t>$\gamma$，</a:t>
            </a:r>
            <a:r>
              <a:rPr sz="1700" b="0">
                <a:latin typeface="楷体"/>
              </a:rPr>
              <a:t>误差由前后半段模拟结果差值的一半确定</a:t>
            </a:r>
            <a:r>
              <a:rPr sz="1700" b="0">
                <a:latin typeface="Times New Roman"/>
              </a:rPr>
              <a:t>。</a:t>
            </a:r>
          </a:p>
          <a:p>
            <a:pPr algn="l"/>
            <a:r>
              <a:rPr sz="1900" b="1">
                <a:latin typeface="Times New Roman"/>
              </a:rPr>
              <a:t>Spontaneous Pore Closure Simulations</a:t>
            </a:r>
          </a:p>
          <a:p>
            <a:pPr algn="l"/>
            <a:r>
              <a:rPr sz="1700" b="0">
                <a:latin typeface="Times New Roman"/>
              </a:rPr>
              <a:t>　　</a:t>
            </a:r>
            <a:r>
              <a:rPr sz="1700" b="0">
                <a:latin typeface="楷体"/>
              </a:rPr>
              <a:t>构建含</a:t>
            </a:r>
            <a:r>
              <a:rPr sz="1700" b="0">
                <a:latin typeface="Times New Roman"/>
              </a:rPr>
              <a:t>256</a:t>
            </a:r>
            <a:r>
              <a:rPr sz="1700" b="0">
                <a:latin typeface="楷体"/>
              </a:rPr>
              <a:t>脂质的</a:t>
            </a:r>
            <a:r>
              <a:rPr sz="1700" b="0">
                <a:latin typeface="Times New Roman"/>
              </a:rPr>
              <a:t>PC</a:t>
            </a:r>
            <a:r>
              <a:rPr sz="1700" b="0">
                <a:latin typeface="楷体"/>
              </a:rPr>
              <a:t>双层膜</a:t>
            </a:r>
            <a:r>
              <a:rPr sz="1700" b="0">
                <a:latin typeface="Times New Roman"/>
              </a:rPr>
              <a:t>，</a:t>
            </a:r>
            <a:r>
              <a:rPr sz="1700" b="0">
                <a:latin typeface="楷体"/>
              </a:rPr>
              <a:t>初始开孔直径约</a:t>
            </a:r>
            <a:r>
              <a:rPr sz="1700" b="0">
                <a:latin typeface="Times New Roman"/>
              </a:rPr>
              <a:t>4.5 nm，</a:t>
            </a:r>
            <a:r>
              <a:rPr sz="1700" b="0">
                <a:latin typeface="楷体"/>
              </a:rPr>
              <a:t>在</a:t>
            </a:r>
            <a:r>
              <a:rPr sz="1700" b="0">
                <a:latin typeface="Times New Roman"/>
              </a:rPr>
              <a:t>CHARMM36</a:t>
            </a:r>
            <a:r>
              <a:rPr sz="1700" b="0">
                <a:latin typeface="楷体"/>
              </a:rPr>
              <a:t>等力场下进行</a:t>
            </a:r>
            <a:r>
              <a:rPr sz="1700" b="0">
                <a:latin typeface="Times New Roman"/>
              </a:rPr>
              <a:t>NPT</a:t>
            </a:r>
            <a:r>
              <a:rPr sz="1700" b="0">
                <a:latin typeface="楷体"/>
              </a:rPr>
              <a:t>系综模拟</a:t>
            </a:r>
            <a:r>
              <a:rPr sz="1700" b="0">
                <a:latin typeface="Times New Roman"/>
              </a:rPr>
              <a:t>。</a:t>
            </a:r>
            <a:r>
              <a:rPr sz="1700" b="0">
                <a:latin typeface="楷体"/>
              </a:rPr>
              <a:t>通过自定义孔态函数</a:t>
            </a:r>
            <a:r>
              <a:rPr sz="1700" b="0">
                <a:latin typeface="Times New Roman"/>
              </a:rPr>
              <a:t>$s(t)$</a:t>
            </a:r>
            <a:r>
              <a:rPr sz="1700" b="0">
                <a:latin typeface="楷体"/>
              </a:rPr>
              <a:t>分析关闭过程</a:t>
            </a:r>
            <a:r>
              <a:rPr sz="1700" b="0">
                <a:latin typeface="Times New Roman"/>
              </a:rPr>
              <a:t>：</a:t>
            </a:r>
            <a:r>
              <a:rPr sz="1700" b="0">
                <a:latin typeface="楷体"/>
              </a:rPr>
              <a:t>将膜沿</a:t>
            </a:r>
            <a:r>
              <a:rPr sz="1700" b="0">
                <a:latin typeface="Times New Roman"/>
              </a:rPr>
              <a:t>Z</a:t>
            </a:r>
            <a:r>
              <a:rPr sz="1700" b="0">
                <a:latin typeface="楷体"/>
              </a:rPr>
              <a:t>轴切片</a:t>
            </a:r>
            <a:r>
              <a:rPr sz="1700" b="0">
                <a:latin typeface="Times New Roman"/>
              </a:rPr>
              <a:t>，</a:t>
            </a:r>
            <a:r>
              <a:rPr sz="1700" b="0">
                <a:latin typeface="楷体"/>
              </a:rPr>
              <a:t>每片若含至少一个水分子则赋值</a:t>
            </a:r>
            <a:r>
              <a:rPr sz="1700" b="0">
                <a:latin typeface="Times New Roman"/>
              </a:rPr>
              <a:t>1，</a:t>
            </a:r>
            <a:r>
              <a:rPr sz="1700" b="0">
                <a:latin typeface="楷体"/>
              </a:rPr>
              <a:t>否则</a:t>
            </a:r>
            <a:r>
              <a:rPr sz="1700" b="0">
                <a:latin typeface="Times New Roman"/>
              </a:rPr>
              <a:t>0，</a:t>
            </a:r>
            <a:r>
              <a:rPr sz="1700" b="0">
                <a:latin typeface="楷体"/>
              </a:rPr>
              <a:t>取平均作为</a:t>
            </a:r>
            <a:r>
              <a:rPr sz="1700" b="0">
                <a:latin typeface="Times New Roman"/>
              </a:rPr>
              <a:t>$s(t)$。</a:t>
            </a:r>
            <a:r>
              <a:rPr sz="1700" b="0">
                <a:latin typeface="楷体"/>
              </a:rPr>
              <a:t>用双曲正切函数拟合</a:t>
            </a:r>
            <a:r>
              <a:rPr sz="1700" b="0">
                <a:latin typeface="Times New Roman"/>
              </a:rPr>
              <a:t>$s(t)$，</a:t>
            </a:r>
            <a:r>
              <a:rPr sz="1700" b="0">
                <a:latin typeface="楷体"/>
              </a:rPr>
              <a:t>其拐点对应孔寿命</a:t>
            </a:r>
            <a:r>
              <a:rPr sz="1700" b="0">
                <a:latin typeface="Times New Roman"/>
              </a:rPr>
              <a:t>。</a:t>
            </a:r>
          </a:p>
          <a:p>
            <a:pPr algn="l"/>
            <a:r>
              <a:rPr sz="1900" b="1">
                <a:latin typeface="Times New Roman"/>
              </a:rPr>
              <a:t>Rapid Method: Quick Estimation of Line Tension</a:t>
            </a:r>
          </a:p>
          <a:p>
            <a:pPr algn="l"/>
            <a:r>
              <a:rPr sz="1700" b="0">
                <a:latin typeface="Times New Roman"/>
              </a:rPr>
              <a:t>　　</a:t>
            </a:r>
            <a:r>
              <a:rPr sz="1700" b="0">
                <a:latin typeface="楷体"/>
              </a:rPr>
              <a:t>构建无限长孔模型</a:t>
            </a:r>
            <a:r>
              <a:rPr sz="1700" b="0">
                <a:latin typeface="Times New Roman"/>
              </a:rPr>
              <a:t>，</a:t>
            </a:r>
            <a:r>
              <a:rPr sz="1700" b="0">
                <a:latin typeface="楷体"/>
              </a:rPr>
              <a:t>即沿膜平面拉伸形成脂质条带</a:t>
            </a:r>
            <a:r>
              <a:rPr sz="1700" b="0">
                <a:latin typeface="Times New Roman"/>
              </a:rPr>
              <a:t>，</a:t>
            </a:r>
            <a:r>
              <a:rPr sz="1700" b="0">
                <a:latin typeface="楷体"/>
              </a:rPr>
              <a:t>利用周期性边界条件形成两个膜边缘</a:t>
            </a:r>
            <a:r>
              <a:rPr sz="1700" b="0">
                <a:latin typeface="Times New Roman"/>
              </a:rPr>
              <a:t>。</a:t>
            </a:r>
            <a:r>
              <a:rPr sz="1700" b="0">
                <a:latin typeface="楷体"/>
              </a:rPr>
              <a:t>以盒子沿边缘方向尺寸为</a:t>
            </a:r>
            <a:r>
              <a:rPr sz="1700" b="0">
                <a:latin typeface="Times New Roman"/>
              </a:rPr>
              <a:t>CV，</a:t>
            </a:r>
            <a:r>
              <a:rPr sz="1700" b="0">
                <a:latin typeface="楷体"/>
              </a:rPr>
              <a:t>进行伞形采样</a:t>
            </a:r>
            <a:r>
              <a:rPr sz="1700" b="0">
                <a:latin typeface="Times New Roman"/>
              </a:rPr>
              <a:t>，</a:t>
            </a:r>
            <a:r>
              <a:rPr sz="1700" b="0">
                <a:latin typeface="楷体"/>
              </a:rPr>
              <a:t>自由能斜率除以</a:t>
            </a:r>
            <a:r>
              <a:rPr sz="1700" b="0">
                <a:latin typeface="Times New Roman"/>
              </a:rPr>
              <a:t>2NA</a:t>
            </a:r>
            <a:r>
              <a:rPr sz="1700" b="0">
                <a:latin typeface="楷体"/>
              </a:rPr>
              <a:t>得线张力</a:t>
            </a:r>
            <a:r>
              <a:rPr sz="1700" b="0">
                <a:latin typeface="Times New Roman"/>
              </a:rPr>
              <a:t>$\gamma$。</a:t>
            </a:r>
            <a:r>
              <a:rPr sz="1700" b="0">
                <a:latin typeface="楷体"/>
              </a:rPr>
              <a:t>使用</a:t>
            </a:r>
            <a:r>
              <a:rPr sz="1700" b="0">
                <a:latin typeface="Times New Roman"/>
              </a:rPr>
              <a:t>21</a:t>
            </a:r>
            <a:r>
              <a:rPr sz="1700" b="0">
                <a:latin typeface="楷体"/>
              </a:rPr>
              <a:t>个窗口覆盖</a:t>
            </a:r>
            <a:r>
              <a:rPr sz="1700" b="0">
                <a:latin typeface="Times New Roman"/>
              </a:rPr>
              <a:t>6–6.6 nm</a:t>
            </a:r>
            <a:r>
              <a:rPr sz="1700" b="0">
                <a:latin typeface="楷体"/>
              </a:rPr>
              <a:t>盒长</a:t>
            </a:r>
            <a:r>
              <a:rPr sz="1700" b="0">
                <a:latin typeface="Times New Roman"/>
              </a:rPr>
              <a:t>，</a:t>
            </a:r>
            <a:r>
              <a:rPr sz="1700" b="0">
                <a:latin typeface="楷体"/>
              </a:rPr>
              <a:t>每窗口运行</a:t>
            </a:r>
            <a:r>
              <a:rPr sz="1700" b="0">
                <a:latin typeface="Times New Roman"/>
              </a:rPr>
              <a:t>150 ns，</a:t>
            </a:r>
            <a:r>
              <a:rPr sz="1700" b="0">
                <a:latin typeface="楷体"/>
              </a:rPr>
              <a:t>取最后</a:t>
            </a:r>
            <a:r>
              <a:rPr sz="1700" b="0">
                <a:latin typeface="Times New Roman"/>
              </a:rPr>
              <a:t>100 ns</a:t>
            </a:r>
            <a:r>
              <a:rPr sz="1700" b="0">
                <a:latin typeface="楷体"/>
              </a:rPr>
              <a:t>数据</a:t>
            </a:r>
            <a:r>
              <a:rPr sz="1700" b="0">
                <a:latin typeface="Times New Roman"/>
              </a:rPr>
              <a:t>。</a:t>
            </a:r>
            <a:r>
              <a:rPr sz="1700" b="0">
                <a:latin typeface="楷体"/>
              </a:rPr>
              <a:t>施加平面外平底约束防止条带旋转</a:t>
            </a:r>
            <a:r>
              <a:rPr sz="1700" b="0">
                <a:latin typeface="Times New Roman"/>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720000"/>
            <a:ext cx="10746000" cy="1909722"/>
          </a:xfrm>
          <a:prstGeom prst="rect">
            <a:avLst/>
          </a:prstGeom>
          <a:noFill/>
        </p:spPr>
        <p:txBody>
          <a:bodyPr wrap="square" anchor="t" lIns="72000" rIns="72000" tIns="72000" bIns="72000">
            <a:spAutoFit/>
          </a:bodyPr>
          <a:lstStyle/>
          <a:p>
            <a:pPr algn="l"/>
            <a:r>
              <a:rPr sz="1900" b="1">
                <a:latin typeface="Times New Roman"/>
              </a:rPr>
              <a:t>Simulation Methods, Models, and Parameters</a:t>
            </a:r>
          </a:p>
          <a:p>
            <a:pPr algn="l"/>
            <a:r>
              <a:rPr sz="1700" b="0">
                <a:latin typeface="Times New Roman"/>
              </a:rPr>
              <a:t>　　</a:t>
            </a:r>
            <a:r>
              <a:rPr sz="1700" b="0">
                <a:latin typeface="楷体"/>
              </a:rPr>
              <a:t>系统由</a:t>
            </a:r>
            <a:r>
              <a:rPr sz="1700" b="0">
                <a:latin typeface="Times New Roman"/>
              </a:rPr>
              <a:t>CHARMM-GUI</a:t>
            </a:r>
            <a:r>
              <a:rPr sz="1700" b="0">
                <a:latin typeface="楷体"/>
              </a:rPr>
              <a:t>构建</a:t>
            </a:r>
            <a:r>
              <a:rPr sz="1700" b="0">
                <a:latin typeface="Times New Roman"/>
              </a:rPr>
              <a:t>，</a:t>
            </a:r>
            <a:r>
              <a:rPr sz="1700" b="0">
                <a:latin typeface="楷体"/>
              </a:rPr>
              <a:t>经能量最小化及多步平衡后进入生产模拟</a:t>
            </a:r>
            <a:r>
              <a:rPr sz="1700" b="0">
                <a:latin typeface="Times New Roman"/>
              </a:rPr>
              <a:t>。</a:t>
            </a:r>
            <a:r>
              <a:rPr sz="1700" b="0">
                <a:latin typeface="楷体"/>
              </a:rPr>
              <a:t>全原子模型用</a:t>
            </a:r>
            <a:r>
              <a:rPr sz="1700" b="0">
                <a:latin typeface="Times New Roman"/>
              </a:rPr>
              <a:t>CHARMM36、Lipid14、Slipids</a:t>
            </a:r>
            <a:r>
              <a:rPr sz="1700" b="0">
                <a:latin typeface="楷体"/>
              </a:rPr>
              <a:t>等力场</a:t>
            </a:r>
            <a:r>
              <a:rPr sz="1700" b="0">
                <a:latin typeface="Times New Roman"/>
              </a:rPr>
              <a:t>，</a:t>
            </a:r>
            <a:r>
              <a:rPr sz="1700" b="0">
                <a:latin typeface="楷体"/>
              </a:rPr>
              <a:t>粗粒化用</a:t>
            </a:r>
            <a:r>
              <a:rPr sz="1700" b="0">
                <a:latin typeface="Times New Roman"/>
              </a:rPr>
              <a:t>Martini</a:t>
            </a:r>
            <a:r>
              <a:rPr sz="1700" b="0">
                <a:latin typeface="楷体"/>
              </a:rPr>
              <a:t>系列</a:t>
            </a:r>
            <a:r>
              <a:rPr sz="1700" b="0">
                <a:latin typeface="Times New Roman"/>
              </a:rPr>
              <a:t>；</a:t>
            </a:r>
            <a:r>
              <a:rPr sz="1700" b="0">
                <a:latin typeface="楷体"/>
              </a:rPr>
              <a:t>水模型对应匹配</a:t>
            </a:r>
            <a:r>
              <a:rPr sz="1700" b="0">
                <a:latin typeface="Times New Roman"/>
              </a:rPr>
              <a:t>。</a:t>
            </a:r>
            <a:r>
              <a:rPr sz="1700" b="0">
                <a:latin typeface="楷体"/>
              </a:rPr>
              <a:t>温度</a:t>
            </a:r>
            <a:r>
              <a:rPr sz="1700" b="0">
                <a:latin typeface="Times New Roman"/>
              </a:rPr>
              <a:t>310 K（DPPC</a:t>
            </a:r>
            <a:r>
              <a:rPr sz="1700" b="0">
                <a:latin typeface="楷体"/>
              </a:rPr>
              <a:t>为</a:t>
            </a:r>
            <a:r>
              <a:rPr sz="1700" b="0">
                <a:latin typeface="Times New Roman"/>
              </a:rPr>
              <a:t>323 K），</a:t>
            </a:r>
            <a:r>
              <a:rPr sz="1700" b="0">
                <a:latin typeface="楷体"/>
              </a:rPr>
              <a:t>压力</a:t>
            </a:r>
            <a:r>
              <a:rPr sz="1700" b="0">
                <a:latin typeface="Times New Roman"/>
              </a:rPr>
              <a:t>1 bar，</a:t>
            </a:r>
            <a:r>
              <a:rPr sz="1700" b="0">
                <a:latin typeface="楷体"/>
              </a:rPr>
              <a:t>半各向同性耦合</a:t>
            </a:r>
            <a:r>
              <a:rPr sz="1700" b="0">
                <a:latin typeface="Times New Roman"/>
              </a:rPr>
              <a:t>。</a:t>
            </a:r>
            <a:r>
              <a:rPr sz="1700" b="0">
                <a:latin typeface="楷体"/>
              </a:rPr>
              <a:t>离子浓度设为</a:t>
            </a:r>
            <a:r>
              <a:rPr sz="1700" b="0">
                <a:latin typeface="Times New Roman"/>
              </a:rPr>
              <a:t>0.15 M NaCl</a:t>
            </a:r>
            <a:r>
              <a:rPr sz="1700" b="0">
                <a:latin typeface="楷体"/>
              </a:rPr>
              <a:t>或</a:t>
            </a:r>
            <a:r>
              <a:rPr sz="1700" b="0">
                <a:latin typeface="Times New Roman"/>
              </a:rPr>
              <a:t>0.15 m</a:t>
            </a:r>
            <a:r>
              <a:rPr sz="1700" b="0">
                <a:latin typeface="楷体"/>
              </a:rPr>
              <a:t>以保持一致性</a:t>
            </a:r>
            <a:r>
              <a:rPr sz="1700" b="0">
                <a:latin typeface="Times New Roman"/>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2703600"/>
            <a:ext cx="10746000" cy="2160000"/>
          </a:xfrm>
          <a:prstGeom prst="rect">
            <a:avLst/>
          </a:prstGeom>
          <a:noFill/>
        </p:spPr>
        <p:txBody>
          <a:bodyPr wrap="none" anchor="ctr">
            <a:spAutoFit/>
          </a:bodyPr>
          <a:lstStyle/>
          <a:p>
            <a:pPr algn="ctr">
              <a:defRPr sz="3000" b="1">
                <a:latin typeface="Times New Roman"/>
              </a:defRPr>
            </a:pPr>
            <a:r>
              <a:t>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pic>
        <p:nvPicPr>
          <p:cNvPr id="3" name="Picture 2" descr="merge.jpg"/>
          <p:cNvPicPr>
            <a:picLocks noChangeAspect="1"/>
          </p:cNvPicPr>
          <p:nvPr/>
        </p:nvPicPr>
        <p:blipFill>
          <a:blip r:embed="rId3"/>
          <a:stretch>
            <a:fillRect/>
          </a:stretch>
        </p:blipFill>
        <p:spPr>
          <a:xfrm>
            <a:off x="360000" y="1429212"/>
            <a:ext cx="5553000" cy="3988775"/>
          </a:xfrm>
          <a:prstGeom prst="rect">
            <a:avLst/>
          </a:prstGeom>
        </p:spPr>
      </p:pic>
      <p:sp>
        <p:nvSpPr>
          <p:cNvPr id="4" name="TextBox 3"/>
          <p:cNvSpPr txBox="1"/>
          <p:nvPr/>
        </p:nvSpPr>
        <p:spPr>
          <a:xfrm>
            <a:off x="6273000" y="1623600"/>
            <a:ext cx="5553000" cy="3600000"/>
          </a:xfrm>
          <a:prstGeom prst="rect">
            <a:avLst/>
          </a:prstGeom>
          <a:noFill/>
        </p:spPr>
        <p:txBody>
          <a:bodyPr wrap="square" anchor="t" lIns="72000" rIns="72000" tIns="72000" bIns="72000">
            <a:normAutofit/>
          </a:bodyPr>
          <a:lstStyle/>
          <a:p>
            <a:pPr algn="l"/>
            <a:r>
              <a:rPr sz="1800" b="0">
                <a:latin typeface="Times New Roman"/>
              </a:rPr>
              <a:t>Fig 3: Spontaneous closure of a pre-equilibrated membrane pore  
a: Initial pore structure with stable water channel and intact lipid head/carbonyl arrangement,</a:t>
            </a:r>
            <a:r>
              <a:rPr sz="1800" b="0">
                <a:latin typeface="楷体"/>
              </a:rPr>
              <a:t>说明</a:t>
            </a:r>
            <a:r>
              <a:rPr sz="1800" b="0">
                <a:latin typeface="Times New Roman"/>
              </a:rPr>
              <a:t>pore stabilization by polar groups.  
b: Shrinking water channel with preserved continuity,</a:t>
            </a:r>
            <a:r>
              <a:rPr sz="1800" b="0">
                <a:latin typeface="楷体"/>
              </a:rPr>
              <a:t>反映</a:t>
            </a:r>
            <a:r>
              <a:rPr sz="1800" b="0">
                <a:latin typeface="Times New Roman"/>
              </a:rPr>
              <a:t>pore radius reduction while maintaining structural integrity.  
c: Final frame showing thin water thread before rupture,</a:t>
            </a:r>
            <a:r>
              <a:rPr sz="1800" b="0">
                <a:latin typeface="楷体"/>
              </a:rPr>
              <a:t>说明</a:t>
            </a:r>
            <a:r>
              <a:rPr sz="1800" b="0">
                <a:latin typeface="Times New Roman"/>
              </a:rPr>
              <a:t>transition to discontinuous hydration.  
d: Closed pore state with membrane thinning and residual defects,</a:t>
            </a:r>
            <a:r>
              <a:rPr sz="1800" b="0">
                <a:latin typeface="楷体"/>
              </a:rPr>
              <a:t>反映</a:t>
            </a:r>
            <a:r>
              <a:rPr sz="1800" b="0">
                <a:latin typeface="Times New Roman"/>
              </a:rPr>
              <a:t>early stage of (de)nucleation post-closure.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360000"/>
            <a:ext cx="10746000" cy="720000"/>
          </a:xfrm>
          <a:prstGeom prst="rect">
            <a:avLst/>
          </a:prstGeom>
          <a:noFill/>
        </p:spPr>
        <p:txBody>
          <a:bodyPr wrap="square" anchor="ctr">
            <a:spAutoFit/>
          </a:bodyPr>
          <a:lstStyle/>
          <a:p>
            <a:pPr algn="ctr"/>
            <a:r>
              <a:rPr sz="2200" b="1">
                <a:latin typeface="Times New Roman"/>
              </a:rPr>
              <a:t>Pore Formation Characterized by the Full-Path Collective Variable</a:t>
            </a:r>
          </a:p>
        </p:txBody>
      </p:sp>
      <p:sp>
        <p:nvSpPr>
          <p:cNvPr id="4" name="TextBox 3"/>
          <p:cNvSpPr txBox="1"/>
          <p:nvPr/>
        </p:nvSpPr>
        <p:spPr>
          <a:xfrm>
            <a:off x="720000" y="1260000"/>
            <a:ext cx="10746000" cy="4783001"/>
          </a:xfrm>
          <a:prstGeom prst="rect">
            <a:avLst/>
          </a:prstGeom>
          <a:noFill/>
        </p:spPr>
        <p:txBody>
          <a:bodyPr wrap="square" anchor="t" lIns="72000" rIns="72000" tIns="72000" bIns="72000">
            <a:spAutoFit/>
          </a:bodyPr>
          <a:lstStyle/>
          <a:p>
            <a:pPr algn="l"/>
            <a:r>
              <a:rPr sz="1900" b="1">
                <a:latin typeface="楷体"/>
              </a:rPr>
              <a:t>全路径集体变量表征的孔形成</a:t>
            </a:r>
          </a:p>
          <a:p>
            <a:pPr algn="l"/>
            <a:r>
              <a:rPr sz="1900" b="1">
                <a:latin typeface="楷体"/>
              </a:rPr>
              <a:t>研究目的</a:t>
            </a:r>
            <a:r>
              <a:rPr sz="1900" b="1">
                <a:latin typeface="Times New Roman"/>
              </a:rPr>
              <a:t>：</a:t>
            </a:r>
          </a:p>
          <a:p>
            <a:pPr algn="l"/>
            <a:r>
              <a:rPr sz="1700" b="0">
                <a:latin typeface="Times New Roman"/>
              </a:rPr>
              <a:t>　　</a:t>
            </a:r>
            <a:r>
              <a:rPr sz="1700" b="0">
                <a:latin typeface="楷体"/>
              </a:rPr>
              <a:t>通过模拟四种不同脂质膜</a:t>
            </a:r>
            <a:r>
              <a:rPr sz="1700" b="0">
                <a:latin typeface="Times New Roman"/>
              </a:rPr>
              <a:t>（DMPC、DPPC、POPC、DOPC）</a:t>
            </a:r>
            <a:r>
              <a:rPr sz="1700" b="0">
                <a:latin typeface="楷体"/>
              </a:rPr>
              <a:t>中自发孔闭合的动力学</a:t>
            </a:r>
            <a:r>
              <a:rPr sz="1700" b="0">
                <a:latin typeface="Times New Roman"/>
              </a:rPr>
              <a:t>，</a:t>
            </a:r>
            <a:r>
              <a:rPr sz="1700" b="0">
                <a:latin typeface="楷体"/>
              </a:rPr>
              <a:t>研究孔形成机制</a:t>
            </a:r>
            <a:r>
              <a:rPr sz="1700" b="0">
                <a:latin typeface="Times New Roman"/>
              </a:rPr>
              <a:t>，</a:t>
            </a:r>
            <a:r>
              <a:rPr sz="1700" b="0">
                <a:latin typeface="楷体"/>
              </a:rPr>
              <a:t>并基于脂质尾部密度变化发展一种新的无滞后集体变量</a:t>
            </a:r>
            <a:r>
              <a:rPr sz="1700" b="0">
                <a:latin typeface="Times New Roman"/>
              </a:rPr>
              <a:t>（CV）</a:t>
            </a:r>
            <a:r>
              <a:rPr sz="1700" b="0">
                <a:latin typeface="楷体"/>
              </a:rPr>
              <a:t>来描述孔的形成过程</a:t>
            </a:r>
            <a:r>
              <a:rPr sz="1700" b="0">
                <a:latin typeface="Times New Roman"/>
              </a:rPr>
              <a:t>。</a:t>
            </a:r>
          </a:p>
          <a:p>
            <a:pPr algn="l"/>
            <a:r>
              <a:rPr sz="1900" b="1">
                <a:latin typeface="楷体"/>
              </a:rPr>
              <a:t>实验结果</a:t>
            </a:r>
            <a:r>
              <a:rPr sz="1900" b="1">
                <a:latin typeface="Times New Roman"/>
              </a:rPr>
              <a:t>：</a:t>
            </a:r>
          </a:p>
          <a:p>
            <a:pPr algn="l"/>
            <a:r>
              <a:rPr sz="1700" b="0">
                <a:latin typeface="Times New Roman"/>
              </a:rPr>
              <a:t>　　</a:t>
            </a:r>
            <a:r>
              <a:rPr sz="1700" b="0">
                <a:latin typeface="楷体"/>
              </a:rPr>
              <a:t>孔闭合分为两个阶段</a:t>
            </a:r>
            <a:r>
              <a:rPr sz="1700" b="0">
                <a:latin typeface="Times New Roman"/>
              </a:rPr>
              <a:t>：</a:t>
            </a:r>
            <a:r>
              <a:rPr sz="1700" b="0">
                <a:latin typeface="楷体"/>
              </a:rPr>
              <a:t>水通道逐渐缩小</a:t>
            </a:r>
            <a:r>
              <a:rPr sz="1700" b="0">
                <a:latin typeface="Times New Roman"/>
              </a:rPr>
              <a:t>（</a:t>
            </a:r>
            <a:r>
              <a:rPr sz="1700" b="0">
                <a:latin typeface="楷体"/>
              </a:rPr>
              <a:t>第一阶段</a:t>
            </a:r>
            <a:r>
              <a:rPr sz="1700" b="0">
                <a:latin typeface="Times New Roman"/>
              </a:rPr>
              <a:t>），</a:t>
            </a:r>
            <a:r>
              <a:rPr sz="1700" b="0">
                <a:latin typeface="楷体"/>
              </a:rPr>
              <a:t>随后通道断裂并残留水缺陷</a:t>
            </a:r>
            <a:r>
              <a:rPr sz="1700" b="0">
                <a:latin typeface="Times New Roman"/>
              </a:rPr>
              <a:t>（</a:t>
            </a:r>
            <a:r>
              <a:rPr sz="1700" b="0">
                <a:latin typeface="楷体"/>
              </a:rPr>
              <a:t>第二阶段</a:t>
            </a:r>
            <a:r>
              <a:rPr sz="1700" b="0">
                <a:latin typeface="Times New Roman"/>
              </a:rPr>
              <a:t>），</a:t>
            </a:r>
            <a:r>
              <a:rPr sz="1700" b="0">
                <a:latin typeface="楷体"/>
              </a:rPr>
              <a:t>脂质羰基持续参与稳定缺陷</a:t>
            </a:r>
            <a:r>
              <a:rPr sz="1700" b="0">
                <a:latin typeface="Times New Roman"/>
              </a:rPr>
              <a:t>（</a:t>
            </a:r>
            <a:r>
              <a:rPr sz="1700" b="0">
                <a:latin typeface="楷体"/>
              </a:rPr>
              <a:t>图</a:t>
            </a:r>
            <a:r>
              <a:rPr sz="1700" b="0">
                <a:latin typeface="Times New Roman"/>
              </a:rPr>
              <a:t>3）。</a:t>
            </a:r>
            <a:r>
              <a:rPr sz="1700" b="0">
                <a:latin typeface="楷体"/>
              </a:rPr>
              <a:t>孔寿命呈现</a:t>
            </a:r>
            <a:r>
              <a:rPr sz="1700" b="0">
                <a:latin typeface="Times New Roman"/>
              </a:rPr>
              <a:t> τ_DMPC &gt; τ_DPPC &gt; τ_POPC &gt; τ_DOPC </a:t>
            </a:r>
            <a:r>
              <a:rPr sz="1700" b="0">
                <a:latin typeface="楷体"/>
              </a:rPr>
              <a:t>的趋势</a:t>
            </a:r>
            <a:r>
              <a:rPr sz="1700" b="0">
                <a:latin typeface="Times New Roman"/>
              </a:rPr>
              <a:t>，</a:t>
            </a:r>
            <a:r>
              <a:rPr sz="1700" b="0">
                <a:latin typeface="楷体"/>
              </a:rPr>
              <a:t>表明饱和度越高</a:t>
            </a:r>
            <a:r>
              <a:rPr sz="1700" b="0">
                <a:latin typeface="Times New Roman"/>
              </a:rPr>
              <a:t>、</a:t>
            </a:r>
            <a:r>
              <a:rPr sz="1700" b="0">
                <a:latin typeface="楷体"/>
              </a:rPr>
              <a:t>脂肪酸越长</a:t>
            </a:r>
            <a:r>
              <a:rPr sz="1700" b="0">
                <a:latin typeface="Times New Roman"/>
              </a:rPr>
              <a:t>，</a:t>
            </a:r>
            <a:r>
              <a:rPr sz="1700" b="0">
                <a:latin typeface="楷体"/>
              </a:rPr>
              <a:t>孔越稳定</a:t>
            </a:r>
            <a:r>
              <a:rPr sz="1700" b="0">
                <a:latin typeface="Times New Roman"/>
              </a:rPr>
              <a:t>（</a:t>
            </a:r>
            <a:r>
              <a:rPr sz="1700" b="0">
                <a:latin typeface="楷体"/>
              </a:rPr>
              <a:t>表</a:t>
            </a:r>
            <a:r>
              <a:rPr sz="1700" b="0">
                <a:latin typeface="Times New Roman"/>
              </a:rPr>
              <a:t>1）。</a:t>
            </a:r>
            <a:r>
              <a:rPr sz="1700" b="0">
                <a:latin typeface="楷体"/>
              </a:rPr>
              <a:t>尾部末端碳原子密度与孔寿命正相关</a:t>
            </a:r>
            <a:r>
              <a:rPr sz="1700" b="0">
                <a:latin typeface="Times New Roman"/>
              </a:rPr>
              <a:t>（</a:t>
            </a:r>
            <a:r>
              <a:rPr sz="1700" b="0">
                <a:latin typeface="楷体"/>
              </a:rPr>
              <a:t>图</a:t>
            </a:r>
            <a:r>
              <a:rPr sz="1700" b="0">
                <a:latin typeface="Times New Roman"/>
              </a:rPr>
              <a:t>S6），</a:t>
            </a:r>
            <a:r>
              <a:rPr sz="1700" b="0">
                <a:latin typeface="楷体"/>
              </a:rPr>
              <a:t>且</a:t>
            </a:r>
            <a:r>
              <a:rPr sz="1700" b="0">
                <a:latin typeface="Times New Roman"/>
              </a:rPr>
              <a:t>CV_cyl</a:t>
            </a:r>
            <a:r>
              <a:rPr sz="1700" b="0">
                <a:latin typeface="楷体"/>
              </a:rPr>
              <a:t>在孔寿命时刻均低于</a:t>
            </a:r>
            <a:r>
              <a:rPr sz="1700" b="0">
                <a:latin typeface="Times New Roman"/>
              </a:rPr>
              <a:t>0.5，</a:t>
            </a:r>
            <a:r>
              <a:rPr sz="1700" b="0">
                <a:latin typeface="楷体"/>
              </a:rPr>
              <a:t>分布集中</a:t>
            </a:r>
            <a:r>
              <a:rPr sz="1700" b="0">
                <a:latin typeface="Times New Roman"/>
              </a:rPr>
              <a:t>（</a:t>
            </a:r>
            <a:r>
              <a:rPr sz="1700" b="0">
                <a:latin typeface="楷体"/>
              </a:rPr>
              <a:t>图</a:t>
            </a:r>
            <a:r>
              <a:rPr sz="1700" b="0">
                <a:latin typeface="Times New Roman"/>
              </a:rPr>
              <a:t>S7）。</a:t>
            </a:r>
            <a:r>
              <a:rPr sz="1700" b="0">
                <a:latin typeface="楷体"/>
              </a:rPr>
              <a:t>优化后最佳参数为</a:t>
            </a:r>
            <a:r>
              <a:rPr sz="1700" b="0">
                <a:latin typeface="Times New Roman"/>
              </a:rPr>
              <a:t> α=20，CV₀∈[0.90, 0.95]，R_cyl=1.2 nm</a:t>
            </a:r>
            <a:r>
              <a:rPr sz="1700" b="0">
                <a:latin typeface="楷体"/>
              </a:rPr>
              <a:t>时无滞后现象</a:t>
            </a:r>
            <a:r>
              <a:rPr sz="1700" b="0">
                <a:latin typeface="Times New Roman"/>
              </a:rPr>
              <a:t>（</a:t>
            </a:r>
            <a:r>
              <a:rPr sz="1700" b="0">
                <a:latin typeface="楷体"/>
              </a:rPr>
              <a:t>图</a:t>
            </a:r>
            <a:r>
              <a:rPr sz="1700" b="0">
                <a:latin typeface="Times New Roman"/>
              </a:rPr>
              <a:t>S3、S8）。</a:t>
            </a:r>
          </a:p>
          <a:p>
            <a:pPr algn="l"/>
            <a:r>
              <a:rPr sz="1900" b="1">
                <a:latin typeface="楷体"/>
              </a:rPr>
              <a:t>结论</a:t>
            </a:r>
            <a:r>
              <a:rPr sz="1900" b="1">
                <a:latin typeface="Times New Roman"/>
              </a:rPr>
              <a:t>:</a:t>
            </a:r>
          </a:p>
          <a:p>
            <a:pPr algn="l"/>
            <a:r>
              <a:rPr sz="1700" b="0">
                <a:latin typeface="Times New Roman"/>
              </a:rPr>
              <a:t>　　</a:t>
            </a:r>
            <a:r>
              <a:rPr sz="1700" b="0">
                <a:latin typeface="楷体"/>
              </a:rPr>
              <a:t>脂质尾部密度降低可有效描述膜缺陷</a:t>
            </a:r>
            <a:r>
              <a:rPr sz="1700" b="0">
                <a:latin typeface="Times New Roman"/>
              </a:rPr>
              <a:t>，</a:t>
            </a:r>
            <a:r>
              <a:rPr sz="1700" b="0">
                <a:latin typeface="楷体"/>
              </a:rPr>
              <a:t>所提出的基于尾部原子的</a:t>
            </a:r>
            <a:r>
              <a:rPr sz="1700" b="0">
                <a:latin typeface="Times New Roman"/>
              </a:rPr>
              <a:t>Full-Path CV</a:t>
            </a:r>
            <a:r>
              <a:rPr sz="1700" b="0">
                <a:latin typeface="楷体"/>
              </a:rPr>
              <a:t>能可靠捕捉缺陷到孔的转变</a:t>
            </a:r>
            <a:r>
              <a:rPr sz="1700" b="0">
                <a:latin typeface="Times New Roman"/>
              </a:rPr>
              <a:t>，</a:t>
            </a:r>
            <a:r>
              <a:rPr sz="1700" b="0">
                <a:latin typeface="楷体"/>
              </a:rPr>
              <a:t>具有普适性和无滞后优势</a:t>
            </a:r>
            <a:r>
              <a:rPr sz="1700" b="0">
                <a:latin typeface="Times New Roman"/>
              </a:rPr>
              <a:t>，</a:t>
            </a:r>
            <a:r>
              <a:rPr sz="1700" b="0">
                <a:latin typeface="楷体"/>
              </a:rPr>
              <a:t>适用于多种磷脂体系</a:t>
            </a:r>
            <a:r>
              <a:rPr sz="1700" b="0">
                <a:latin typeface="Times New Roman"/>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pic>
        <p:nvPicPr>
          <p:cNvPr id="3" name="Picture 2" descr="merge.jpg"/>
          <p:cNvPicPr>
            <a:picLocks noChangeAspect="1"/>
          </p:cNvPicPr>
          <p:nvPr/>
        </p:nvPicPr>
        <p:blipFill>
          <a:blip r:embed="rId3"/>
          <a:stretch>
            <a:fillRect/>
          </a:stretch>
        </p:blipFill>
        <p:spPr>
          <a:xfrm>
            <a:off x="1695078" y="360000"/>
            <a:ext cx="2882842" cy="6127200"/>
          </a:xfrm>
          <a:prstGeom prst="rect">
            <a:avLst/>
          </a:prstGeom>
        </p:spPr>
      </p:pic>
      <p:sp>
        <p:nvSpPr>
          <p:cNvPr id="4" name="TextBox 3"/>
          <p:cNvSpPr txBox="1"/>
          <p:nvPr/>
        </p:nvSpPr>
        <p:spPr>
          <a:xfrm>
            <a:off x="6273000" y="1623600"/>
            <a:ext cx="5553000" cy="3600000"/>
          </a:xfrm>
          <a:prstGeom prst="rect">
            <a:avLst/>
          </a:prstGeom>
          <a:noFill/>
        </p:spPr>
        <p:txBody>
          <a:bodyPr wrap="square" anchor="t" lIns="72000" rIns="72000" tIns="72000" bIns="72000">
            <a:normAutofit/>
          </a:bodyPr>
          <a:lstStyle/>
          <a:p>
            <a:pPr algn="l"/>
            <a:r>
              <a:rPr sz="1800" b="0">
                <a:latin typeface="Times New Roman"/>
              </a:rPr>
              <a:t>Fig 4: Energetics of pore formation in lipid bilayers using the Full-Path method  
a: Snapshots of a POPC membrane pore in side and top views (CHARMM36); water shown as cyan volume;</a:t>
            </a:r>
            <a:r>
              <a:rPr sz="1800" b="0">
                <a:latin typeface="楷体"/>
              </a:rPr>
              <a:t>说明</a:t>
            </a:r>
            <a:r>
              <a:rPr sz="1800" b="0">
                <a:latin typeface="Times New Roman"/>
              </a:rPr>
              <a:t>pore structure during simulation.  
b: Free energy profiles show quadratic (nucleation) and linear (expansion) regimes;</a:t>
            </a:r>
            <a:r>
              <a:rPr sz="1800" b="0">
                <a:latin typeface="楷体"/>
              </a:rPr>
              <a:t>反映</a:t>
            </a:r>
            <a:r>
              <a:rPr sz="1800" b="0">
                <a:latin typeface="Times New Roman"/>
              </a:rPr>
              <a:t>two-stage pore formation process.  
c: All-atom force fields yield lower free energies than Martini;</a:t>
            </a:r>
            <a:r>
              <a:rPr sz="1800" b="0">
                <a:latin typeface="楷体"/>
              </a:rPr>
              <a:t>说明</a:t>
            </a:r>
            <a:r>
              <a:rPr sz="1800" b="0">
                <a:latin typeface="Times New Roman"/>
              </a:rPr>
              <a:t>higher line tension in coarse-grained models.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360000"/>
            <a:ext cx="10746000" cy="720000"/>
          </a:xfrm>
          <a:prstGeom prst="rect">
            <a:avLst/>
          </a:prstGeom>
          <a:noFill/>
        </p:spPr>
        <p:txBody>
          <a:bodyPr wrap="square" anchor="ctr">
            <a:spAutoFit/>
          </a:bodyPr>
          <a:lstStyle/>
          <a:p>
            <a:pPr algn="ctr"/>
            <a:r>
              <a:rPr sz="2200" b="1">
                <a:latin typeface="Times New Roman"/>
              </a:rPr>
              <a:t>Energetics of Pore Formation with the Full-Path Method</a:t>
            </a:r>
          </a:p>
        </p:txBody>
      </p:sp>
      <p:sp>
        <p:nvSpPr>
          <p:cNvPr id="4" name="TextBox 3"/>
          <p:cNvSpPr txBox="1"/>
          <p:nvPr/>
        </p:nvSpPr>
        <p:spPr>
          <a:xfrm>
            <a:off x="720000" y="1260000"/>
            <a:ext cx="10746000" cy="5085451"/>
          </a:xfrm>
          <a:prstGeom prst="rect">
            <a:avLst/>
          </a:prstGeom>
          <a:noFill/>
        </p:spPr>
        <p:txBody>
          <a:bodyPr wrap="square" anchor="t" lIns="72000" rIns="72000" tIns="72000" bIns="72000">
            <a:spAutoFit/>
          </a:bodyPr>
          <a:lstStyle/>
          <a:p>
            <a:pPr algn="l"/>
            <a:r>
              <a:rPr sz="1900" b="1">
                <a:latin typeface="楷体"/>
              </a:rPr>
              <a:t>全路径法下孔形成能的分析</a:t>
            </a:r>
          </a:p>
          <a:p>
            <a:pPr algn="l"/>
            <a:r>
              <a:rPr sz="1900" b="1">
                <a:latin typeface="楷体"/>
              </a:rPr>
              <a:t>研究目的</a:t>
            </a:r>
            <a:r>
              <a:rPr sz="1900" b="1">
                <a:latin typeface="Times New Roman"/>
              </a:rPr>
              <a:t>：</a:t>
            </a:r>
          </a:p>
          <a:p>
            <a:pPr algn="l"/>
            <a:r>
              <a:rPr sz="1700" b="0">
                <a:latin typeface="Times New Roman"/>
              </a:rPr>
              <a:t>　　</a:t>
            </a:r>
            <a:r>
              <a:rPr sz="1700" b="0">
                <a:latin typeface="楷体"/>
              </a:rPr>
              <a:t>验证所选集体变量</a:t>
            </a:r>
            <a:r>
              <a:rPr sz="1700" b="0">
                <a:latin typeface="Times New Roman"/>
              </a:rPr>
              <a:t>（CV）</a:t>
            </a:r>
            <a:r>
              <a:rPr sz="1700" b="0">
                <a:latin typeface="楷体"/>
              </a:rPr>
              <a:t>的有效性</a:t>
            </a:r>
            <a:r>
              <a:rPr sz="1700" b="0">
                <a:latin typeface="Times New Roman"/>
              </a:rPr>
              <a:t>，</a:t>
            </a:r>
            <a:r>
              <a:rPr sz="1700" b="0">
                <a:latin typeface="楷体"/>
              </a:rPr>
              <a:t>探究孔成核阶段的二次系数</a:t>
            </a:r>
            <a:r>
              <a:rPr sz="1700" b="0">
                <a:latin typeface="Times New Roman"/>
              </a:rPr>
              <a:t> $k$ </a:t>
            </a:r>
            <a:r>
              <a:rPr sz="1700" b="0">
                <a:latin typeface="楷体"/>
              </a:rPr>
              <a:t>与孔扩展阶段的线张力</a:t>
            </a:r>
            <a:r>
              <a:rPr sz="1700" b="0">
                <a:latin typeface="Times New Roman"/>
              </a:rPr>
              <a:t> $\gamma$ </a:t>
            </a:r>
            <a:r>
              <a:rPr sz="1700" b="0">
                <a:latin typeface="楷体"/>
              </a:rPr>
              <a:t>之间的相关性</a:t>
            </a:r>
            <a:r>
              <a:rPr sz="1700" b="0">
                <a:latin typeface="Times New Roman"/>
              </a:rPr>
              <a:t>，</a:t>
            </a:r>
            <a:r>
              <a:rPr sz="1700" b="0">
                <a:latin typeface="楷体"/>
              </a:rPr>
              <a:t>并评估不同力场对脂质膜孔形成能学描述的准确性</a:t>
            </a:r>
            <a:r>
              <a:rPr sz="1700" b="0">
                <a:latin typeface="Times New Roman"/>
              </a:rPr>
              <a:t>。</a:t>
            </a:r>
          </a:p>
          <a:p>
            <a:pPr algn="l"/>
            <a:r>
              <a:rPr sz="1900" b="1">
                <a:latin typeface="楷体"/>
              </a:rPr>
              <a:t>实验结果</a:t>
            </a:r>
            <a:r>
              <a:rPr sz="1900" b="1">
                <a:latin typeface="Times New Roman"/>
              </a:rPr>
              <a:t>：</a:t>
            </a:r>
          </a:p>
          <a:p>
            <a:pPr algn="l"/>
            <a:r>
              <a:rPr sz="1700" b="0">
                <a:latin typeface="Times New Roman"/>
              </a:rPr>
              <a:t>　　</a:t>
            </a:r>
            <a:r>
              <a:rPr sz="1700" b="0">
                <a:latin typeface="楷体"/>
              </a:rPr>
              <a:t>在含阴离子脂质</a:t>
            </a:r>
            <a:r>
              <a:rPr sz="1700" b="0">
                <a:latin typeface="Times New Roman"/>
              </a:rPr>
              <a:t>（POPG/POPS）</a:t>
            </a:r>
            <a:r>
              <a:rPr sz="1700" b="0">
                <a:latin typeface="楷体"/>
              </a:rPr>
              <a:t>与两性脂质</a:t>
            </a:r>
            <a:r>
              <a:rPr sz="1700" b="0">
                <a:latin typeface="Times New Roman"/>
              </a:rPr>
              <a:t>（POPC/POPE）</a:t>
            </a:r>
            <a:r>
              <a:rPr sz="1700" b="0">
                <a:latin typeface="楷体"/>
              </a:rPr>
              <a:t>的混合体系中</a:t>
            </a:r>
            <a:r>
              <a:rPr sz="1700" b="0">
                <a:latin typeface="Times New Roman"/>
              </a:rPr>
              <a:t>，$k$ </a:t>
            </a:r>
            <a:r>
              <a:rPr sz="1700" b="0">
                <a:latin typeface="楷体"/>
              </a:rPr>
              <a:t>与</a:t>
            </a:r>
            <a:r>
              <a:rPr sz="1700" b="0">
                <a:latin typeface="Times New Roman"/>
              </a:rPr>
              <a:t> $\gamma$ </a:t>
            </a:r>
            <a:r>
              <a:rPr sz="1700" b="0">
                <a:latin typeface="楷体"/>
              </a:rPr>
              <a:t>呈显著正相关</a:t>
            </a:r>
            <a:r>
              <a:rPr sz="1700" b="0">
                <a:latin typeface="Times New Roman"/>
              </a:rPr>
              <a:t>：$k$ </a:t>
            </a:r>
            <a:r>
              <a:rPr sz="1700" b="0">
                <a:latin typeface="楷体"/>
              </a:rPr>
              <a:t>减小时</a:t>
            </a:r>
            <a:r>
              <a:rPr sz="1700" b="0">
                <a:latin typeface="Times New Roman"/>
              </a:rPr>
              <a:t> $\gamma$ </a:t>
            </a:r>
            <a:r>
              <a:rPr sz="1700" b="0">
                <a:latin typeface="楷体"/>
              </a:rPr>
              <a:t>也减小</a:t>
            </a:r>
            <a:r>
              <a:rPr sz="1700" b="0">
                <a:latin typeface="Times New Roman"/>
              </a:rPr>
              <a:t>，</a:t>
            </a:r>
            <a:r>
              <a:rPr sz="1700" b="0">
                <a:latin typeface="楷体"/>
              </a:rPr>
              <a:t>反之亦然</a:t>
            </a:r>
            <a:r>
              <a:rPr sz="1700" b="0">
                <a:latin typeface="Times New Roman"/>
              </a:rPr>
              <a:t>（</a:t>
            </a:r>
            <a:r>
              <a:rPr sz="1700" b="0">
                <a:latin typeface="楷体"/>
              </a:rPr>
              <a:t>图</a:t>
            </a:r>
            <a:r>
              <a:rPr sz="1700" b="0">
                <a:latin typeface="Times New Roman"/>
              </a:rPr>
              <a:t>4C、S9、S10）。</a:t>
            </a:r>
            <a:r>
              <a:rPr sz="1700" b="0">
                <a:latin typeface="楷体"/>
              </a:rPr>
              <a:t>使用</a:t>
            </a:r>
            <a:r>
              <a:rPr sz="1700" b="0">
                <a:latin typeface="Times New Roman"/>
              </a:rPr>
              <a:t>CHARMM36</a:t>
            </a:r>
            <a:r>
              <a:rPr sz="1700" b="0">
                <a:latin typeface="楷体"/>
              </a:rPr>
              <a:t>和</a:t>
            </a:r>
            <a:r>
              <a:rPr sz="1700" b="0">
                <a:latin typeface="Times New Roman"/>
              </a:rPr>
              <a:t>Martini 2.2p</a:t>
            </a:r>
            <a:r>
              <a:rPr sz="1700" b="0">
                <a:latin typeface="楷体"/>
              </a:rPr>
              <a:t>力场时</a:t>
            </a:r>
            <a:r>
              <a:rPr sz="1700" b="0">
                <a:latin typeface="Times New Roman"/>
              </a:rPr>
              <a:t>，POPG</a:t>
            </a:r>
            <a:r>
              <a:rPr sz="1700" b="0">
                <a:latin typeface="楷体"/>
              </a:rPr>
              <a:t>双层膜的</a:t>
            </a:r>
            <a:r>
              <a:rPr sz="1700" b="0">
                <a:latin typeface="Times New Roman"/>
              </a:rPr>
              <a:t> $k$ </a:t>
            </a:r>
            <a:r>
              <a:rPr sz="1700" b="0">
                <a:latin typeface="楷体"/>
              </a:rPr>
              <a:t>和</a:t>
            </a:r>
            <a:r>
              <a:rPr sz="1700" b="0">
                <a:latin typeface="Times New Roman"/>
              </a:rPr>
              <a:t> $\gamma$ </a:t>
            </a:r>
            <a:r>
              <a:rPr sz="1700" b="0">
                <a:latin typeface="楷体"/>
              </a:rPr>
              <a:t>均低于</a:t>
            </a:r>
            <a:r>
              <a:rPr sz="1700" b="0">
                <a:latin typeface="Times New Roman"/>
              </a:rPr>
              <a:t>POPC，</a:t>
            </a:r>
            <a:r>
              <a:rPr sz="1700" b="0">
                <a:latin typeface="楷体"/>
              </a:rPr>
              <a:t>且在混合脂质中随</a:t>
            </a:r>
            <a:r>
              <a:rPr sz="1700" b="0">
                <a:latin typeface="Times New Roman"/>
              </a:rPr>
              <a:t>POPG</a:t>
            </a:r>
            <a:r>
              <a:rPr sz="1700" b="0">
                <a:latin typeface="楷体"/>
              </a:rPr>
              <a:t>比例增加而持续下降</a:t>
            </a:r>
            <a:r>
              <a:rPr sz="1700" b="0">
                <a:latin typeface="Times New Roman"/>
              </a:rPr>
              <a:t>。</a:t>
            </a:r>
            <a:r>
              <a:rPr sz="1700" b="0">
                <a:latin typeface="楷体"/>
              </a:rPr>
              <a:t>然而</a:t>
            </a:r>
            <a:r>
              <a:rPr sz="1700" b="0">
                <a:latin typeface="Times New Roman"/>
              </a:rPr>
              <a:t>，Martini 2.2</a:t>
            </a:r>
            <a:r>
              <a:rPr sz="1700" b="0">
                <a:latin typeface="楷体"/>
              </a:rPr>
              <a:t>和</a:t>
            </a:r>
            <a:r>
              <a:rPr sz="1700" b="0">
                <a:latin typeface="Times New Roman"/>
              </a:rPr>
              <a:t>Martini 3</a:t>
            </a:r>
            <a:r>
              <a:rPr sz="1700" b="0">
                <a:latin typeface="楷体"/>
              </a:rPr>
              <a:t>力场则显示</a:t>
            </a:r>
            <a:r>
              <a:rPr sz="1700" b="0">
                <a:latin typeface="Times New Roman"/>
              </a:rPr>
              <a:t>POPG</a:t>
            </a:r>
            <a:r>
              <a:rPr sz="1700" b="0">
                <a:latin typeface="楷体"/>
              </a:rPr>
              <a:t>的</a:t>
            </a:r>
            <a:r>
              <a:rPr sz="1700" b="0">
                <a:latin typeface="Times New Roman"/>
              </a:rPr>
              <a:t> $k$ </a:t>
            </a:r>
            <a:r>
              <a:rPr sz="1700" b="0">
                <a:latin typeface="楷体"/>
              </a:rPr>
              <a:t>和</a:t>
            </a:r>
            <a:r>
              <a:rPr sz="1700" b="0">
                <a:latin typeface="Times New Roman"/>
              </a:rPr>
              <a:t> $\gamma$ </a:t>
            </a:r>
            <a:r>
              <a:rPr sz="1700" b="0">
                <a:latin typeface="楷体"/>
              </a:rPr>
              <a:t>高于</a:t>
            </a:r>
            <a:r>
              <a:rPr sz="1700" b="0">
                <a:latin typeface="Times New Roman"/>
              </a:rPr>
              <a:t>POPC。</a:t>
            </a:r>
          </a:p>
          <a:p>
            <a:pPr algn="l"/>
            <a:r>
              <a:rPr sz="1900" b="1">
                <a:latin typeface="楷体"/>
              </a:rPr>
              <a:t>结论</a:t>
            </a:r>
            <a:r>
              <a:rPr sz="1900" b="1">
                <a:latin typeface="Times New Roman"/>
              </a:rPr>
              <a:t>：</a:t>
            </a:r>
          </a:p>
          <a:p>
            <a:pPr algn="l"/>
            <a:r>
              <a:rPr sz="1700" b="0">
                <a:latin typeface="Times New Roman"/>
              </a:rPr>
              <a:t>　　</a:t>
            </a:r>
            <a:r>
              <a:rPr sz="1700" b="0">
                <a:latin typeface="楷体"/>
              </a:rPr>
              <a:t>实验表明</a:t>
            </a:r>
            <a:r>
              <a:rPr sz="1700" b="0">
                <a:latin typeface="Times New Roman"/>
              </a:rPr>
              <a:t>POG</a:t>
            </a:r>
            <a:r>
              <a:rPr sz="1700" b="0">
                <a:latin typeface="楷体"/>
              </a:rPr>
              <a:t>类脂质应降低孔形成能耗</a:t>
            </a:r>
            <a:r>
              <a:rPr sz="1700" b="0">
                <a:latin typeface="Times New Roman"/>
              </a:rPr>
              <a:t>，CHARMM36</a:t>
            </a:r>
            <a:r>
              <a:rPr sz="1700" b="0">
                <a:latin typeface="楷体"/>
              </a:rPr>
              <a:t>与</a:t>
            </a:r>
            <a:r>
              <a:rPr sz="1700" b="0">
                <a:latin typeface="Times New Roman"/>
              </a:rPr>
              <a:t>Martini 2.2p</a:t>
            </a:r>
            <a:r>
              <a:rPr sz="1700" b="0">
                <a:latin typeface="楷体"/>
              </a:rPr>
              <a:t>更符合这一物理现实</a:t>
            </a:r>
            <a:r>
              <a:rPr sz="1700" b="0">
                <a:latin typeface="Times New Roman"/>
              </a:rPr>
              <a:t>，</a:t>
            </a:r>
            <a:r>
              <a:rPr sz="1700" b="0">
                <a:latin typeface="楷体"/>
              </a:rPr>
              <a:t>而</a:t>
            </a:r>
            <a:r>
              <a:rPr sz="1700" b="0">
                <a:latin typeface="Times New Roman"/>
              </a:rPr>
              <a:t>Martini 2.2</a:t>
            </a:r>
            <a:r>
              <a:rPr sz="1700" b="0">
                <a:latin typeface="楷体"/>
              </a:rPr>
              <a:t>和</a:t>
            </a:r>
            <a:r>
              <a:rPr sz="1700" b="0">
                <a:latin typeface="Times New Roman"/>
              </a:rPr>
              <a:t>Martini 3</a:t>
            </a:r>
            <a:r>
              <a:rPr sz="1700" b="0">
                <a:latin typeface="楷体"/>
              </a:rPr>
              <a:t>未能正确再现脂质类型的能量差异</a:t>
            </a:r>
            <a:r>
              <a:rPr sz="1700" b="0">
                <a:latin typeface="Times New Roman"/>
              </a:rPr>
              <a:t>，</a:t>
            </a:r>
            <a:r>
              <a:rPr sz="1700" b="0">
                <a:latin typeface="楷体"/>
              </a:rPr>
              <a:t>说明力场选择显著影响孔形成能学的模拟准确性</a:t>
            </a:r>
            <a:r>
              <a:rPr sz="1700" b="0">
                <a:latin typeface="Times New Roman"/>
              </a:rPr>
              <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pic>
        <p:nvPicPr>
          <p:cNvPr id="3" name="Picture 2" descr="merge.jpg"/>
          <p:cNvPicPr>
            <a:picLocks noChangeAspect="1"/>
          </p:cNvPicPr>
          <p:nvPr/>
        </p:nvPicPr>
        <p:blipFill>
          <a:blip r:embed="rId3"/>
          <a:stretch>
            <a:fillRect/>
          </a:stretch>
        </p:blipFill>
        <p:spPr>
          <a:xfrm>
            <a:off x="1961390" y="360000"/>
            <a:ext cx="2350218" cy="6127200"/>
          </a:xfrm>
          <a:prstGeom prst="rect">
            <a:avLst/>
          </a:prstGeom>
        </p:spPr>
      </p:pic>
      <p:sp>
        <p:nvSpPr>
          <p:cNvPr id="4" name="TextBox 3"/>
          <p:cNvSpPr txBox="1"/>
          <p:nvPr/>
        </p:nvSpPr>
        <p:spPr>
          <a:xfrm>
            <a:off x="6273000" y="1623600"/>
            <a:ext cx="5553000" cy="3600000"/>
          </a:xfrm>
          <a:prstGeom prst="rect">
            <a:avLst/>
          </a:prstGeom>
          <a:noFill/>
        </p:spPr>
        <p:txBody>
          <a:bodyPr wrap="square" anchor="t" lIns="72000" rIns="72000" tIns="72000" bIns="72000">
            <a:normAutofit/>
          </a:bodyPr>
          <a:lstStyle/>
          <a:p>
            <a:pPr algn="l">
              <a:defRPr sz="1800" b="0">
                <a:latin typeface="Times New Roman"/>
              </a:defRPr>
            </a:pPr>
            <a:r>
              <a:t>Fig 5: Line tension analysis of lipid bilayers using the Rapid method  </a:t>
            </a:r>
            <a:br/>
            <a:r>
              <a:t>a: Simulation setup visualization showing lipid bilayer and water (cyan) in side and top views.  </a:t>
            </a:r>
            <a:br/>
            <a:r>
              <a:t>b: Free energy profiles from US simulations; linear fits yield line tensions, with slopes indicating magnitude.  </a:t>
            </a:r>
            <a:br/>
            <a:r>
              <a:t>c: Line tensions for POPC, POPE, POPS, POPG across force fields; CHARMM36 and prosECCo75 show POPE &gt; POPS &gt; POPC &gt; POPG trend, while Slipids deviates (POPC &gt; POPS), conflicting with experiments, likely due to inaccurate head group–ion interactions.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pic>
        <p:nvPicPr>
          <p:cNvPr id="3" name="Picture 2" descr="merge.jpg"/>
          <p:cNvPicPr>
            <a:picLocks noChangeAspect="1"/>
          </p:cNvPicPr>
          <p:nvPr/>
        </p:nvPicPr>
        <p:blipFill>
          <a:blip r:embed="rId3"/>
          <a:stretch>
            <a:fillRect/>
          </a:stretch>
        </p:blipFill>
        <p:spPr>
          <a:xfrm>
            <a:off x="1509123" y="360000"/>
            <a:ext cx="3254752" cy="6127200"/>
          </a:xfrm>
          <a:prstGeom prst="rect">
            <a:avLst/>
          </a:prstGeom>
        </p:spPr>
      </p:pic>
      <p:sp>
        <p:nvSpPr>
          <p:cNvPr id="4" name="TextBox 3"/>
          <p:cNvSpPr txBox="1"/>
          <p:nvPr/>
        </p:nvSpPr>
        <p:spPr>
          <a:xfrm>
            <a:off x="6273000" y="1623600"/>
            <a:ext cx="5553000" cy="3600000"/>
          </a:xfrm>
          <a:prstGeom prst="rect">
            <a:avLst/>
          </a:prstGeom>
          <a:noFill/>
        </p:spPr>
        <p:txBody>
          <a:bodyPr wrap="square" anchor="t" lIns="72000" rIns="72000" tIns="72000" bIns="72000">
            <a:normAutofit/>
          </a:bodyPr>
          <a:lstStyle/>
          <a:p>
            <a:pPr algn="l">
              <a:defRPr sz="1800" b="0">
                <a:latin typeface="Times New Roman"/>
              </a:defRPr>
            </a:pPr>
            <a:r>
              <a:t>Fig 6: Line tension comparisons in lipid bilayers  </a:t>
            </a:r>
            <a:br/>
            <a:r>
              <a:t>a: All-atom force fields show strong agreement with experimental line tensions for POPC/POPG mixtures; Martini variants show poorer performance.  </a:t>
            </a:r>
            <a:br/>
            <a:r>
              <a:t>b: FullPath and Rapid methods agree well overall; minor deviations depend on force field, likely due to ionic concentration and pore geometry differences.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pic>
        <p:nvPicPr>
          <p:cNvPr id="3" name="Picture 2" descr="merge.jpg"/>
          <p:cNvPicPr>
            <a:picLocks noChangeAspect="1"/>
          </p:cNvPicPr>
          <p:nvPr/>
        </p:nvPicPr>
        <p:blipFill>
          <a:blip r:embed="rId3"/>
          <a:stretch>
            <a:fillRect/>
          </a:stretch>
        </p:blipFill>
        <p:spPr>
          <a:xfrm>
            <a:off x="904161" y="360000"/>
            <a:ext cx="4464677" cy="6127200"/>
          </a:xfrm>
          <a:prstGeom prst="rect">
            <a:avLst/>
          </a:prstGeom>
        </p:spPr>
      </p:pic>
      <p:sp>
        <p:nvSpPr>
          <p:cNvPr id="4" name="TextBox 3"/>
          <p:cNvSpPr txBox="1"/>
          <p:nvPr/>
        </p:nvSpPr>
        <p:spPr>
          <a:xfrm>
            <a:off x="6273000" y="1623600"/>
            <a:ext cx="5553000" cy="3600000"/>
          </a:xfrm>
          <a:prstGeom prst="rect">
            <a:avLst/>
          </a:prstGeom>
          <a:noFill/>
        </p:spPr>
        <p:txBody>
          <a:bodyPr wrap="square" anchor="t" lIns="72000" rIns="72000" tIns="72000" bIns="72000">
            <a:normAutofit/>
          </a:bodyPr>
          <a:lstStyle/>
          <a:p>
            <a:pPr algn="l">
              <a:defRPr sz="1800" b="0">
                <a:latin typeface="Times New Roman"/>
              </a:defRPr>
            </a:pPr>
            <a:r>
              <a:t>Fig 7: Ion effects on lipid membrane line tension  </a:t>
            </a:r>
            <a:br/>
            <a:r>
              <a:t>a: CaCl₂ increases line tension in POPC:POPG membranes; CHARMM36 and prosECCo75 capture experimental trends, while Martini 2.2p shows incomplete restoration to POPC levels.  </a:t>
            </a:r>
            <a:br/>
            <a:r>
              <a:t>b: NaCl elevates line tension in anionic membranes; CHARMM36 and prosECCo75 show 30–50% increase, Martini 2.2p ~20%, while Martini 2.2/3 and Slipids fail to reproduce the effect.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360000"/>
            <a:ext cx="10746000" cy="720000"/>
          </a:xfrm>
          <a:prstGeom prst="rect">
            <a:avLst/>
          </a:prstGeom>
          <a:noFill/>
        </p:spPr>
        <p:txBody>
          <a:bodyPr wrap="square" anchor="ctr">
            <a:spAutoFit/>
          </a:bodyPr>
          <a:lstStyle/>
          <a:p>
            <a:pPr algn="ctr"/>
            <a:r>
              <a:rPr sz="2200" b="1">
                <a:latin typeface="Times New Roman"/>
              </a:rPr>
              <a:t>Efficient Predictions of Line Tension by the Rapid Method</a:t>
            </a:r>
          </a:p>
        </p:txBody>
      </p:sp>
      <p:sp>
        <p:nvSpPr>
          <p:cNvPr id="4" name="TextBox 3"/>
          <p:cNvSpPr txBox="1"/>
          <p:nvPr/>
        </p:nvSpPr>
        <p:spPr>
          <a:xfrm>
            <a:off x="720000" y="1260000"/>
            <a:ext cx="10746000" cy="5400000"/>
          </a:xfrm>
          <a:prstGeom prst="rect">
            <a:avLst/>
          </a:prstGeom>
          <a:noFill/>
        </p:spPr>
        <p:txBody>
          <a:bodyPr wrap="square" anchor="t" lIns="72000" rIns="72000" tIns="72000" bIns="72000">
            <a:spAutoFit/>
          </a:bodyPr>
          <a:lstStyle/>
          <a:p>
            <a:pPr algn="l"/>
            <a:r>
              <a:rPr sz="1900" b="1">
                <a:latin typeface="楷体"/>
              </a:rPr>
              <a:t>快速方法对线张力的高效预测</a:t>
            </a:r>
          </a:p>
          <a:p>
            <a:pPr algn="l"/>
            <a:r>
              <a:rPr sz="1900" b="1">
                <a:latin typeface="楷体"/>
              </a:rPr>
              <a:t>研究目的</a:t>
            </a:r>
            <a:r>
              <a:rPr sz="1900" b="1">
                <a:latin typeface="Times New Roman"/>
              </a:rPr>
              <a:t>：</a:t>
            </a:r>
          </a:p>
          <a:p>
            <a:pPr algn="l"/>
            <a:r>
              <a:rPr sz="1700" b="0">
                <a:latin typeface="Times New Roman"/>
              </a:rPr>
              <a:t>　　</a:t>
            </a:r>
            <a:r>
              <a:rPr sz="1700" b="0">
                <a:latin typeface="楷体"/>
              </a:rPr>
              <a:t>评估六种不同力场在快速方法下预测</a:t>
            </a:r>
            <a:r>
              <a:rPr sz="1700" b="0">
                <a:latin typeface="Times New Roman"/>
              </a:rPr>
              <a:t>POPC、POPE、POPS</a:t>
            </a:r>
            <a:r>
              <a:rPr sz="1700" b="0">
                <a:latin typeface="楷体"/>
              </a:rPr>
              <a:t>和</a:t>
            </a:r>
            <a:r>
              <a:rPr sz="1700" b="0">
                <a:latin typeface="Times New Roman"/>
              </a:rPr>
              <a:t>POPG</a:t>
            </a:r>
            <a:r>
              <a:rPr sz="1700" b="0">
                <a:latin typeface="楷体"/>
              </a:rPr>
              <a:t>双分子层线张力的准确性</a:t>
            </a:r>
            <a:r>
              <a:rPr sz="1700" b="0">
                <a:latin typeface="Times New Roman"/>
              </a:rPr>
              <a:t>，</a:t>
            </a:r>
            <a:r>
              <a:rPr sz="1700" b="0">
                <a:latin typeface="楷体"/>
              </a:rPr>
              <a:t>并与实验数据对比</a:t>
            </a:r>
            <a:r>
              <a:rPr sz="1700" b="0">
                <a:latin typeface="Times New Roman"/>
              </a:rPr>
              <a:t>，</a:t>
            </a:r>
            <a:r>
              <a:rPr sz="1700" b="0">
                <a:latin typeface="楷体"/>
              </a:rPr>
              <a:t>检验其对离子效应</a:t>
            </a:r>
            <a:r>
              <a:rPr sz="1700" b="0">
                <a:latin typeface="Times New Roman"/>
              </a:rPr>
              <a:t>（NaCl、CaCl₂）</a:t>
            </a:r>
            <a:r>
              <a:rPr sz="1700" b="0">
                <a:latin typeface="楷体"/>
              </a:rPr>
              <a:t>的响应能力</a:t>
            </a:r>
            <a:r>
              <a:rPr sz="1700" b="0">
                <a:latin typeface="Times New Roman"/>
              </a:rPr>
              <a:t>。</a:t>
            </a:r>
          </a:p>
          <a:p>
            <a:pPr algn="l"/>
            <a:r>
              <a:rPr sz="1900" b="1">
                <a:latin typeface="楷体"/>
              </a:rPr>
              <a:t>实验结果</a:t>
            </a:r>
            <a:r>
              <a:rPr sz="1900" b="1">
                <a:latin typeface="Times New Roman"/>
              </a:rPr>
              <a:t>：</a:t>
            </a:r>
          </a:p>
          <a:p>
            <a:pPr algn="l"/>
            <a:r>
              <a:rPr sz="1700" b="0">
                <a:latin typeface="Times New Roman"/>
              </a:rPr>
              <a:t>　　</a:t>
            </a:r>
            <a:r>
              <a:rPr sz="1700" b="0">
                <a:latin typeface="Times New Roman"/>
              </a:rPr>
              <a:t>CHARMM36、prosECCo75</a:t>
            </a:r>
            <a:r>
              <a:rPr sz="1700" b="0">
                <a:latin typeface="楷体"/>
              </a:rPr>
              <a:t>和</a:t>
            </a:r>
            <a:r>
              <a:rPr sz="1700" b="0">
                <a:latin typeface="Times New Roman"/>
              </a:rPr>
              <a:t>Slipids</a:t>
            </a:r>
            <a:r>
              <a:rPr sz="1700" b="0">
                <a:latin typeface="楷体"/>
              </a:rPr>
              <a:t>等全原子力场显示</a:t>
            </a:r>
            <a:r>
              <a:rPr sz="1700" b="0">
                <a:latin typeface="Times New Roman"/>
              </a:rPr>
              <a:t>POPE &gt; POPS &gt; POPC &gt; POPG</a:t>
            </a:r>
            <a:r>
              <a:rPr sz="1700" b="0">
                <a:latin typeface="楷体"/>
              </a:rPr>
              <a:t>的线张力趋势</a:t>
            </a:r>
            <a:r>
              <a:rPr sz="1700" b="0">
                <a:latin typeface="Times New Roman"/>
              </a:rPr>
              <a:t>（</a:t>
            </a:r>
            <a:r>
              <a:rPr sz="1700" b="0">
                <a:latin typeface="楷体"/>
              </a:rPr>
              <a:t>图</a:t>
            </a:r>
            <a:r>
              <a:rPr sz="1700" b="0">
                <a:latin typeface="Times New Roman"/>
              </a:rPr>
              <a:t>5C），</a:t>
            </a:r>
            <a:r>
              <a:rPr sz="1700" b="0">
                <a:latin typeface="楷体"/>
              </a:rPr>
              <a:t>与实验一致</a:t>
            </a:r>
            <a:r>
              <a:rPr sz="1700" b="0">
                <a:latin typeface="Times New Roman"/>
              </a:rPr>
              <a:t>；</a:t>
            </a:r>
            <a:r>
              <a:rPr sz="1700" b="0">
                <a:latin typeface="楷体"/>
              </a:rPr>
              <a:t>但</a:t>
            </a:r>
            <a:r>
              <a:rPr sz="1700" b="0">
                <a:latin typeface="Times New Roman"/>
              </a:rPr>
              <a:t>Slipids</a:t>
            </a:r>
            <a:r>
              <a:rPr sz="1700" b="0">
                <a:latin typeface="楷体"/>
              </a:rPr>
              <a:t>中</a:t>
            </a:r>
            <a:r>
              <a:rPr sz="1700" b="0">
                <a:latin typeface="Times New Roman"/>
              </a:rPr>
              <a:t>POPC</a:t>
            </a:r>
            <a:r>
              <a:rPr sz="1700" b="0">
                <a:latin typeface="楷体"/>
              </a:rPr>
              <a:t>高于</a:t>
            </a:r>
            <a:r>
              <a:rPr sz="1700" b="0">
                <a:latin typeface="Times New Roman"/>
              </a:rPr>
              <a:t>POPS，</a:t>
            </a:r>
            <a:r>
              <a:rPr sz="1700" b="0">
                <a:latin typeface="楷体"/>
              </a:rPr>
              <a:t>与实验矛盾</a:t>
            </a:r>
            <a:r>
              <a:rPr sz="1700" b="0">
                <a:latin typeface="Times New Roman"/>
              </a:rPr>
              <a:t>。Martini 2.2</a:t>
            </a:r>
            <a:r>
              <a:rPr sz="1700" b="0">
                <a:latin typeface="楷体"/>
              </a:rPr>
              <a:t>和</a:t>
            </a:r>
            <a:r>
              <a:rPr sz="1700" b="0">
                <a:latin typeface="Times New Roman"/>
              </a:rPr>
              <a:t>Martini 3</a:t>
            </a:r>
            <a:r>
              <a:rPr sz="1700" b="0">
                <a:latin typeface="楷体"/>
              </a:rPr>
              <a:t>预测</a:t>
            </a:r>
            <a:r>
              <a:rPr sz="1700" b="0">
                <a:latin typeface="Times New Roman"/>
              </a:rPr>
              <a:t>POPG</a:t>
            </a:r>
            <a:r>
              <a:rPr sz="1700" b="0">
                <a:latin typeface="楷体"/>
              </a:rPr>
              <a:t>线张力高于</a:t>
            </a:r>
            <a:r>
              <a:rPr sz="1700" b="0">
                <a:latin typeface="Times New Roman"/>
              </a:rPr>
              <a:t>POPC，</a:t>
            </a:r>
            <a:r>
              <a:rPr sz="1700" b="0">
                <a:latin typeface="楷体"/>
              </a:rPr>
              <a:t>与实验相悖</a:t>
            </a:r>
            <a:r>
              <a:rPr sz="1700" b="0">
                <a:latin typeface="Times New Roman"/>
              </a:rPr>
              <a:t>（</a:t>
            </a:r>
            <a:r>
              <a:rPr sz="1700" b="0">
                <a:latin typeface="楷体"/>
              </a:rPr>
              <a:t>图</a:t>
            </a:r>
            <a:r>
              <a:rPr sz="1700" b="0">
                <a:latin typeface="Times New Roman"/>
              </a:rPr>
              <a:t>5C）。</a:t>
            </a:r>
            <a:r>
              <a:rPr sz="1700" b="0">
                <a:latin typeface="楷体"/>
              </a:rPr>
              <a:t>在</a:t>
            </a:r>
            <a:r>
              <a:rPr sz="1700" b="0">
                <a:latin typeface="Times New Roman"/>
              </a:rPr>
              <a:t>POPC</a:t>
            </a:r>
            <a:r>
              <a:rPr sz="1700" b="0">
                <a:latin typeface="楷体"/>
              </a:rPr>
              <a:t>及</a:t>
            </a:r>
            <a:r>
              <a:rPr sz="1700" b="0">
                <a:latin typeface="Times New Roman"/>
              </a:rPr>
              <a:t>POPC:POPG</a:t>
            </a:r>
            <a:r>
              <a:rPr sz="1700" b="0">
                <a:latin typeface="楷体"/>
              </a:rPr>
              <a:t>混合体系中</a:t>
            </a:r>
            <a:r>
              <a:rPr sz="1700" b="0">
                <a:latin typeface="Times New Roman"/>
              </a:rPr>
              <a:t>，CHARMM36、prosECCo75</a:t>
            </a:r>
            <a:r>
              <a:rPr sz="1700" b="0">
                <a:latin typeface="楷体"/>
              </a:rPr>
              <a:t>与实验值高度吻合</a:t>
            </a:r>
            <a:r>
              <a:rPr sz="1700" b="0">
                <a:latin typeface="Times New Roman"/>
              </a:rPr>
              <a:t>，Martini 2.2p</a:t>
            </a:r>
            <a:r>
              <a:rPr sz="1700" b="0">
                <a:latin typeface="楷体"/>
              </a:rPr>
              <a:t>仅定性符合</a:t>
            </a:r>
            <a:r>
              <a:rPr sz="1700" b="0">
                <a:latin typeface="Times New Roman"/>
              </a:rPr>
              <a:t>，Martini 2.2/3</a:t>
            </a:r>
            <a:r>
              <a:rPr sz="1700" b="0">
                <a:latin typeface="楷体"/>
              </a:rPr>
              <a:t>则趋势不符</a:t>
            </a:r>
            <a:r>
              <a:rPr sz="1700" b="0">
                <a:latin typeface="Times New Roman"/>
              </a:rPr>
              <a:t>（</a:t>
            </a:r>
            <a:r>
              <a:rPr sz="1700" b="0">
                <a:latin typeface="楷体"/>
              </a:rPr>
              <a:t>图</a:t>
            </a:r>
            <a:r>
              <a:rPr sz="1700" b="0">
                <a:latin typeface="Times New Roman"/>
              </a:rPr>
              <a:t>6A）。</a:t>
            </a:r>
            <a:r>
              <a:rPr sz="1700" b="0">
                <a:latin typeface="楷体"/>
              </a:rPr>
              <a:t>两种计算方法</a:t>
            </a:r>
            <a:r>
              <a:rPr sz="1700" b="0">
                <a:latin typeface="Times New Roman"/>
              </a:rPr>
              <a:t>（Rapid vs Full-Path）</a:t>
            </a:r>
            <a:r>
              <a:rPr sz="1700" b="0">
                <a:latin typeface="楷体"/>
              </a:rPr>
              <a:t>整体一致</a:t>
            </a:r>
            <a:r>
              <a:rPr sz="1700" b="0">
                <a:latin typeface="Times New Roman"/>
              </a:rPr>
              <a:t>，</a:t>
            </a:r>
            <a:r>
              <a:rPr sz="1700" b="0">
                <a:latin typeface="楷体"/>
              </a:rPr>
              <a:t>但存在力场依赖的小偏差</a:t>
            </a:r>
            <a:r>
              <a:rPr sz="1700" b="0">
                <a:latin typeface="Times New Roman"/>
              </a:rPr>
              <a:t>（</a:t>
            </a:r>
            <a:r>
              <a:rPr sz="1700" b="0">
                <a:latin typeface="楷体"/>
              </a:rPr>
              <a:t>图</a:t>
            </a:r>
            <a:r>
              <a:rPr sz="1700" b="0">
                <a:latin typeface="Times New Roman"/>
              </a:rPr>
              <a:t>6B）。</a:t>
            </a:r>
            <a:r>
              <a:rPr sz="1700" b="0">
                <a:latin typeface="楷体"/>
              </a:rPr>
              <a:t>添加</a:t>
            </a:r>
            <a:r>
              <a:rPr sz="1700" b="0">
                <a:latin typeface="Times New Roman"/>
              </a:rPr>
              <a:t>CaCl₂</a:t>
            </a:r>
            <a:r>
              <a:rPr sz="1700" b="0">
                <a:latin typeface="楷体"/>
              </a:rPr>
              <a:t>后</a:t>
            </a:r>
            <a:r>
              <a:rPr sz="1700" b="0">
                <a:latin typeface="Times New Roman"/>
              </a:rPr>
              <a:t>，CHARMM36、prosECCo75</a:t>
            </a:r>
            <a:r>
              <a:rPr sz="1700" b="0">
                <a:latin typeface="楷体"/>
              </a:rPr>
              <a:t>和</a:t>
            </a:r>
            <a:r>
              <a:rPr sz="1700" b="0">
                <a:latin typeface="Times New Roman"/>
              </a:rPr>
              <a:t>Martini 2.2p</a:t>
            </a:r>
            <a:r>
              <a:rPr sz="1700" b="0">
                <a:latin typeface="楷体"/>
              </a:rPr>
              <a:t>均再现实验趋势</a:t>
            </a:r>
            <a:r>
              <a:rPr sz="1700" b="0">
                <a:latin typeface="Times New Roman"/>
              </a:rPr>
              <a:t>：</a:t>
            </a:r>
            <a:r>
              <a:rPr sz="1700" b="0">
                <a:latin typeface="楷体"/>
              </a:rPr>
              <a:t>混合膜线张力升高</a:t>
            </a:r>
            <a:r>
              <a:rPr sz="1700" b="0">
                <a:latin typeface="Times New Roman"/>
              </a:rPr>
              <a:t>（</a:t>
            </a:r>
            <a:r>
              <a:rPr sz="1700" b="0">
                <a:latin typeface="楷体"/>
              </a:rPr>
              <a:t>图</a:t>
            </a:r>
            <a:r>
              <a:rPr sz="1700" b="0">
                <a:latin typeface="Times New Roman"/>
              </a:rPr>
              <a:t>7A）。</a:t>
            </a:r>
            <a:r>
              <a:rPr sz="1700" b="0">
                <a:latin typeface="楷体"/>
              </a:rPr>
              <a:t>加入</a:t>
            </a:r>
            <a:r>
              <a:rPr sz="1700" b="0">
                <a:latin typeface="Times New Roman"/>
              </a:rPr>
              <a:t>0.15 M NaCl</a:t>
            </a:r>
            <a:r>
              <a:rPr sz="1700" b="0">
                <a:latin typeface="楷体"/>
              </a:rPr>
              <a:t>使含负电脂质膜线张力显著上升</a:t>
            </a:r>
            <a:r>
              <a:rPr sz="1700" b="0">
                <a:latin typeface="Times New Roman"/>
              </a:rPr>
              <a:t>，CHARMM36</a:t>
            </a:r>
            <a:r>
              <a:rPr sz="1700" b="0">
                <a:latin typeface="楷体"/>
              </a:rPr>
              <a:t>和</a:t>
            </a:r>
            <a:r>
              <a:rPr sz="1700" b="0">
                <a:latin typeface="Times New Roman"/>
              </a:rPr>
              <a:t>prosECCo75</a:t>
            </a:r>
            <a:r>
              <a:rPr sz="1700" b="0">
                <a:latin typeface="楷体"/>
              </a:rPr>
              <a:t>模拟出</a:t>
            </a:r>
            <a:r>
              <a:rPr sz="1700" b="0">
                <a:latin typeface="Times New Roman"/>
              </a:rPr>
              <a:t>30–50%</a:t>
            </a:r>
            <a:r>
              <a:rPr sz="1700" b="0">
                <a:latin typeface="楷体"/>
              </a:rPr>
              <a:t>增长</a:t>
            </a:r>
            <a:r>
              <a:rPr sz="1700" b="0">
                <a:latin typeface="Times New Roman"/>
              </a:rPr>
              <a:t>，Martini 2.2p</a:t>
            </a:r>
            <a:r>
              <a:rPr sz="1700" b="0">
                <a:latin typeface="楷体"/>
              </a:rPr>
              <a:t>为</a:t>
            </a:r>
            <a:r>
              <a:rPr sz="1700" b="0">
                <a:latin typeface="Times New Roman"/>
              </a:rPr>
              <a:t>20%，</a:t>
            </a:r>
            <a:r>
              <a:rPr sz="1700" b="0">
                <a:latin typeface="楷体"/>
              </a:rPr>
              <a:t>而</a:t>
            </a:r>
            <a:r>
              <a:rPr sz="1700" b="0">
                <a:latin typeface="Times New Roman"/>
              </a:rPr>
              <a:t>Slipids、Martini 2.2/3</a:t>
            </a:r>
            <a:r>
              <a:rPr sz="1700" b="0">
                <a:latin typeface="楷体"/>
              </a:rPr>
              <a:t>无明显变化</a:t>
            </a:r>
            <a:r>
              <a:rPr sz="1700" b="0">
                <a:latin typeface="Times New Roman"/>
              </a:rPr>
              <a:t>（</a:t>
            </a:r>
            <a:r>
              <a:rPr sz="1700" b="0">
                <a:latin typeface="楷体"/>
              </a:rPr>
              <a:t>图</a:t>
            </a:r>
            <a:r>
              <a:rPr sz="1700" b="0">
                <a:latin typeface="Times New Roman"/>
              </a:rPr>
              <a:t>7B）。</a:t>
            </a:r>
          </a:p>
          <a:p>
            <a:pPr algn="l"/>
            <a:r>
              <a:rPr sz="1900" b="1">
                <a:latin typeface="楷体"/>
              </a:rPr>
              <a:t>结论</a:t>
            </a:r>
            <a:r>
              <a:rPr sz="1900" b="1">
                <a:latin typeface="Times New Roman"/>
              </a:rPr>
              <a:t>:</a:t>
            </a:r>
          </a:p>
          <a:p>
            <a:pPr algn="l"/>
            <a:r>
              <a:rPr sz="1700" b="0">
                <a:latin typeface="Times New Roman"/>
              </a:rPr>
              <a:t>　　</a:t>
            </a:r>
            <a:r>
              <a:rPr sz="1700" b="0">
                <a:latin typeface="Times New Roman"/>
              </a:rPr>
              <a:t>CHARMM36</a:t>
            </a:r>
            <a:r>
              <a:rPr sz="1700" b="0">
                <a:latin typeface="楷体"/>
              </a:rPr>
              <a:t>和</a:t>
            </a:r>
            <a:r>
              <a:rPr sz="1700" b="0">
                <a:latin typeface="Times New Roman"/>
              </a:rPr>
              <a:t>prosECCo75</a:t>
            </a:r>
            <a:r>
              <a:rPr sz="1700" b="0">
                <a:latin typeface="楷体"/>
              </a:rPr>
              <a:t>力场在快速方法下能准确预测线张力及其对离子的响应</a:t>
            </a:r>
            <a:r>
              <a:rPr sz="1700" b="0">
                <a:latin typeface="Times New Roman"/>
              </a:rPr>
              <a:t>，</a:t>
            </a:r>
            <a:r>
              <a:rPr sz="1700" b="0">
                <a:latin typeface="楷体"/>
              </a:rPr>
              <a:t>与实验高度一致</a:t>
            </a:r>
            <a:r>
              <a:rPr sz="1700" b="0">
                <a:latin typeface="Times New Roman"/>
              </a:rPr>
              <a:t>；Martini 2.2p</a:t>
            </a:r>
            <a:r>
              <a:rPr sz="1700" b="0">
                <a:latin typeface="楷体"/>
              </a:rPr>
              <a:t>有一定适用性</a:t>
            </a:r>
            <a:r>
              <a:rPr sz="1700" b="0">
                <a:latin typeface="Times New Roman"/>
              </a:rPr>
              <a:t>，</a:t>
            </a:r>
            <a:r>
              <a:rPr sz="1700" b="0">
                <a:latin typeface="楷体"/>
              </a:rPr>
              <a:t>而</a:t>
            </a:r>
            <a:r>
              <a:rPr sz="1700" b="0">
                <a:latin typeface="Times New Roman"/>
              </a:rPr>
              <a:t>Slipids、Martini 2.2</a:t>
            </a:r>
            <a:r>
              <a:rPr sz="1700" b="0">
                <a:latin typeface="楷体"/>
              </a:rPr>
              <a:t>和</a:t>
            </a:r>
            <a:r>
              <a:rPr sz="1700" b="0">
                <a:latin typeface="Times New Roman"/>
              </a:rPr>
              <a:t>Martini 3</a:t>
            </a:r>
            <a:r>
              <a:rPr sz="1700" b="0">
                <a:latin typeface="楷体"/>
              </a:rPr>
              <a:t>因头基或离子相互作用缺陷</a:t>
            </a:r>
            <a:r>
              <a:rPr sz="1700" b="0">
                <a:latin typeface="Times New Roman"/>
              </a:rPr>
              <a:t>，</a:t>
            </a:r>
            <a:r>
              <a:rPr sz="1700" b="0">
                <a:latin typeface="楷体"/>
              </a:rPr>
              <a:t>可靠性较低</a:t>
            </a:r>
            <a:r>
              <a:rPr sz="1700" b="0">
                <a:latin typeface="Times New Roman"/>
              </a:rPr>
              <a: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2703600"/>
            <a:ext cx="10746000" cy="2160000"/>
          </a:xfrm>
          <a:prstGeom prst="rect">
            <a:avLst/>
          </a:prstGeom>
          <a:noFill/>
        </p:spPr>
        <p:txBody>
          <a:bodyPr wrap="none" anchor="ctr">
            <a:spAutoFit/>
          </a:bodyPr>
          <a:lstStyle/>
          <a:p>
            <a:pPr algn="ctr">
              <a:defRPr sz="3000" b="1">
                <a:latin typeface="Times New Roman"/>
              </a:defRPr>
            </a:pPr>
            <a:r>
              <a:t>Discussion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a.png"/>
          <p:cNvPicPr>
            <a:picLocks noChangeAspect="1"/>
          </p:cNvPicPr>
          <p:nvPr/>
        </p:nvPicPr>
        <p:blipFill>
          <a:blip r:embed="rId2"/>
          <a:stretch>
            <a:fillRect/>
          </a:stretch>
        </p:blipFill>
        <p:spPr>
          <a:xfrm>
            <a:off x="0" y="0"/>
            <a:ext cx="12186000" cy="6847200"/>
          </a:xfrm>
          <a:prstGeom prst="rect">
            <a:avLst/>
          </a:prstGeom>
        </p:spPr>
      </p:pic>
      <p:sp>
        <p:nvSpPr>
          <p:cNvPr id="3" name="TextBox 2"/>
          <p:cNvSpPr txBox="1"/>
          <p:nvPr/>
        </p:nvSpPr>
        <p:spPr>
          <a:xfrm>
            <a:off x="720000" y="720000"/>
            <a:ext cx="10746000" cy="4087365"/>
          </a:xfrm>
          <a:prstGeom prst="rect">
            <a:avLst/>
          </a:prstGeom>
          <a:noFill/>
        </p:spPr>
        <p:txBody>
          <a:bodyPr wrap="square" anchor="t" lIns="72000" rIns="72000" tIns="72000" bIns="72000">
            <a:spAutoFit/>
          </a:bodyPr>
          <a:lstStyle/>
          <a:p>
            <a:pPr algn="l"/>
            <a:r>
              <a:rPr sz="1900" b="1">
                <a:latin typeface="楷体"/>
              </a:rPr>
              <a:t>总结</a:t>
            </a:r>
          </a:p>
          <a:p>
            <a:pPr algn="l"/>
            <a:r>
              <a:rPr sz="1700" b="0">
                <a:latin typeface="Times New Roman"/>
              </a:rPr>
              <a:t>　　</a:t>
            </a:r>
            <a:r>
              <a:rPr sz="1700" b="0">
                <a:latin typeface="楷体"/>
              </a:rPr>
              <a:t>本文提出两种新的集体变量</a:t>
            </a:r>
            <a:r>
              <a:rPr sz="1700" b="0">
                <a:latin typeface="Times New Roman"/>
              </a:rPr>
              <a:t>（CVs）——Full-Path</a:t>
            </a:r>
            <a:r>
              <a:rPr sz="1700" b="0">
                <a:latin typeface="楷体"/>
              </a:rPr>
              <a:t>和</a:t>
            </a:r>
            <a:r>
              <a:rPr sz="1700" b="0">
                <a:latin typeface="Times New Roman"/>
              </a:rPr>
              <a:t>Rapid，</a:t>
            </a:r>
            <a:r>
              <a:rPr sz="1700" b="0">
                <a:latin typeface="楷体"/>
              </a:rPr>
              <a:t>用于分子动力学模拟中膜孔形成与稳定性的自由能计算</a:t>
            </a:r>
            <a:r>
              <a:rPr sz="1700" b="0">
                <a:latin typeface="Times New Roman"/>
              </a:rPr>
              <a:t>。</a:t>
            </a:r>
            <a:r>
              <a:rPr sz="1700" b="0">
                <a:latin typeface="楷体"/>
              </a:rPr>
              <a:t>前者追踪孔的成核与扩张全过程</a:t>
            </a:r>
            <a:r>
              <a:rPr sz="1700" b="0">
                <a:latin typeface="Times New Roman"/>
              </a:rPr>
              <a:t>，</a:t>
            </a:r>
            <a:r>
              <a:rPr sz="1700" b="0">
                <a:latin typeface="楷体"/>
              </a:rPr>
              <a:t>后者快速估算大孔的线张力</a:t>
            </a:r>
            <a:r>
              <a:rPr sz="1700" b="0">
                <a:latin typeface="Times New Roman"/>
              </a:rPr>
              <a:t>。</a:t>
            </a:r>
            <a:r>
              <a:rPr sz="1700" b="0">
                <a:latin typeface="楷体"/>
              </a:rPr>
              <a:t>方法在多种力场下验证</a:t>
            </a:r>
            <a:r>
              <a:rPr sz="1700" b="0">
                <a:latin typeface="Times New Roman"/>
              </a:rPr>
              <a:t>，</a:t>
            </a:r>
            <a:r>
              <a:rPr sz="1700" b="0">
                <a:latin typeface="楷体"/>
              </a:rPr>
              <a:t>并与实验趋势对比</a:t>
            </a:r>
            <a:r>
              <a:rPr sz="1700" b="0">
                <a:latin typeface="Times New Roman"/>
              </a:rPr>
              <a:t>。</a:t>
            </a:r>
          </a:p>
          <a:p>
            <a:pPr algn="l"/>
            <a:r>
              <a:rPr sz="1900" b="1">
                <a:latin typeface="楷体"/>
              </a:rPr>
              <a:t>亮点</a:t>
            </a:r>
          </a:p>
          <a:p>
            <a:pPr algn="l"/>
            <a:r>
              <a:rPr sz="1700" b="0">
                <a:latin typeface="Times New Roman"/>
              </a:rPr>
              <a:t>　　</a:t>
            </a:r>
            <a:r>
              <a:rPr sz="1700" b="0">
                <a:latin typeface="Times New Roman"/>
              </a:rPr>
              <a:t>Full-Path CV</a:t>
            </a:r>
            <a:r>
              <a:rPr sz="1700" b="0">
                <a:latin typeface="楷体"/>
              </a:rPr>
              <a:t>基于脂质尾部原子分布</a:t>
            </a:r>
            <a:r>
              <a:rPr sz="1700" b="0">
                <a:latin typeface="Times New Roman"/>
              </a:rPr>
              <a:t>，</a:t>
            </a:r>
            <a:r>
              <a:rPr sz="1700" b="0">
                <a:latin typeface="楷体"/>
              </a:rPr>
              <a:t>避免了传统水或头部基团定义的局限</a:t>
            </a:r>
            <a:r>
              <a:rPr sz="1700" b="0">
                <a:latin typeface="Times New Roman"/>
              </a:rPr>
              <a:t>，</a:t>
            </a:r>
            <a:r>
              <a:rPr sz="1700" b="0">
                <a:latin typeface="楷体"/>
              </a:rPr>
              <a:t>且无滞后现象</a:t>
            </a:r>
            <a:r>
              <a:rPr sz="1700" b="0">
                <a:latin typeface="Times New Roman"/>
              </a:rPr>
              <a:t>；Rapid</a:t>
            </a:r>
            <a:r>
              <a:rPr sz="1700" b="0">
                <a:latin typeface="楷体"/>
              </a:rPr>
              <a:t>方法计算高效</a:t>
            </a:r>
            <a:r>
              <a:rPr sz="1700" b="0">
                <a:latin typeface="Times New Roman"/>
              </a:rPr>
              <a:t>，</a:t>
            </a:r>
            <a:r>
              <a:rPr sz="1700" b="0">
                <a:latin typeface="楷体"/>
              </a:rPr>
              <a:t>适用于大规模筛选</a:t>
            </a:r>
            <a:r>
              <a:rPr sz="1700" b="0">
                <a:latin typeface="Times New Roman"/>
              </a:rPr>
              <a:t>。</a:t>
            </a:r>
            <a:r>
              <a:rPr sz="1700" b="0">
                <a:latin typeface="楷体"/>
              </a:rPr>
              <a:t>两者均通过</a:t>
            </a:r>
            <a:r>
              <a:rPr sz="1700" b="0">
                <a:latin typeface="Times New Roman"/>
              </a:rPr>
              <a:t>PLUMED</a:t>
            </a:r>
            <a:r>
              <a:rPr sz="1700" b="0">
                <a:latin typeface="楷体"/>
              </a:rPr>
              <a:t>实现</a:t>
            </a:r>
            <a:r>
              <a:rPr sz="1700" b="0">
                <a:latin typeface="Times New Roman"/>
              </a:rPr>
              <a:t>，</a:t>
            </a:r>
            <a:r>
              <a:rPr sz="1700" b="0">
                <a:latin typeface="楷体"/>
              </a:rPr>
              <a:t>兼容性强</a:t>
            </a:r>
            <a:r>
              <a:rPr sz="1700" b="0">
                <a:latin typeface="Times New Roman"/>
              </a:rPr>
              <a:t>，</a:t>
            </a:r>
            <a:r>
              <a:rPr sz="1700" b="0">
                <a:latin typeface="楷体"/>
              </a:rPr>
              <a:t>且成功复现实验观察的脂质组成</a:t>
            </a:r>
            <a:r>
              <a:rPr sz="1700" b="0">
                <a:latin typeface="Times New Roman"/>
              </a:rPr>
              <a:t>、</a:t>
            </a:r>
            <a:r>
              <a:rPr sz="1700" b="0">
                <a:latin typeface="楷体"/>
              </a:rPr>
              <a:t>离子浓度对线张力的影响趋势</a:t>
            </a:r>
            <a:r>
              <a:rPr sz="1700" b="0">
                <a:latin typeface="Times New Roman"/>
              </a:rPr>
              <a:t>。</a:t>
            </a:r>
          </a:p>
          <a:p>
            <a:pPr algn="l"/>
            <a:r>
              <a:rPr sz="1900" b="1">
                <a:latin typeface="楷体"/>
              </a:rPr>
              <a:t>不足</a:t>
            </a:r>
          </a:p>
          <a:p>
            <a:pPr algn="l"/>
            <a:r>
              <a:rPr sz="1700" b="0">
                <a:latin typeface="Times New Roman"/>
              </a:rPr>
              <a:t>　　</a:t>
            </a:r>
            <a:r>
              <a:rPr sz="1700" b="0">
                <a:latin typeface="楷体"/>
              </a:rPr>
              <a:t>部分力场</a:t>
            </a:r>
            <a:r>
              <a:rPr sz="1700" b="0">
                <a:latin typeface="Times New Roman"/>
              </a:rPr>
              <a:t>（</a:t>
            </a:r>
            <a:r>
              <a:rPr sz="1700" b="0">
                <a:latin typeface="楷体"/>
              </a:rPr>
              <a:t>如</a:t>
            </a:r>
            <a:r>
              <a:rPr sz="1700" b="0">
                <a:latin typeface="Times New Roman"/>
              </a:rPr>
              <a:t>Slipids、Martini</a:t>
            </a:r>
            <a:r>
              <a:rPr sz="1700" b="0">
                <a:latin typeface="楷体"/>
              </a:rPr>
              <a:t>系列</a:t>
            </a:r>
            <a:r>
              <a:rPr sz="1700" b="0">
                <a:latin typeface="Times New Roman"/>
              </a:rPr>
              <a:t>）</a:t>
            </a:r>
            <a:r>
              <a:rPr sz="1700" b="0">
                <a:latin typeface="楷体"/>
              </a:rPr>
              <a:t>在预测线张力变化时与实验不符</a:t>
            </a:r>
            <a:r>
              <a:rPr sz="1700" b="0">
                <a:latin typeface="Times New Roman"/>
              </a:rPr>
              <a:t>，</a:t>
            </a:r>
            <a:r>
              <a:rPr sz="1700" b="0">
                <a:latin typeface="楷体"/>
              </a:rPr>
              <a:t>尤其在离子效应上表现不佳</a:t>
            </a:r>
            <a:r>
              <a:rPr sz="1700" b="0">
                <a:latin typeface="Times New Roman"/>
              </a:rPr>
              <a:t>，</a:t>
            </a:r>
            <a:r>
              <a:rPr sz="1700" b="0">
                <a:latin typeface="楷体"/>
              </a:rPr>
              <a:t>限制了其普适性</a:t>
            </a:r>
            <a:r>
              <a:rPr sz="1700" b="0">
                <a:latin typeface="Times New Roman"/>
              </a:rPr>
              <a:t>。</a:t>
            </a:r>
            <a:r>
              <a:rPr sz="1700" b="0">
                <a:latin typeface="楷体"/>
              </a:rPr>
              <a:t>此外</a:t>
            </a:r>
            <a:r>
              <a:rPr sz="1700" b="0">
                <a:latin typeface="Times New Roman"/>
              </a:rPr>
              <a:t>，Rapid</a:t>
            </a:r>
            <a:r>
              <a:rPr sz="1700" b="0">
                <a:latin typeface="楷体"/>
              </a:rPr>
              <a:t>方法基于</a:t>
            </a:r>
            <a:r>
              <a:rPr sz="1700" b="0">
                <a:latin typeface="Times New Roman"/>
              </a:rPr>
              <a:t>“</a:t>
            </a:r>
            <a:r>
              <a:rPr sz="1700" b="0">
                <a:latin typeface="楷体"/>
              </a:rPr>
              <a:t>无限孔</a:t>
            </a:r>
            <a:r>
              <a:rPr sz="1700" b="0">
                <a:latin typeface="Times New Roman"/>
              </a:rPr>
              <a:t>”</a:t>
            </a:r>
            <a:r>
              <a:rPr sz="1700" b="0">
                <a:latin typeface="楷体"/>
              </a:rPr>
              <a:t>模型</a:t>
            </a:r>
            <a:r>
              <a:rPr sz="1700" b="0">
                <a:latin typeface="Times New Roman"/>
              </a:rPr>
              <a:t>，</a:t>
            </a:r>
            <a:r>
              <a:rPr sz="1700" b="0">
                <a:latin typeface="楷体"/>
              </a:rPr>
              <a:t>几何假设可能影响真实小孔的适用性</a:t>
            </a:r>
            <a:r>
              <a:rPr sz="1700" b="0">
                <a:latin typeface="Times New Roman"/>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